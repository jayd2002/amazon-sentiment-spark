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4"/>
  </p:notesMasterIdLst>
  <p:sldIdLst>
    <p:sldId id="269" r:id="rId2"/>
    <p:sldId id="270" r:id="rId3"/>
    <p:sldId id="271" r:id="rId4"/>
    <p:sldId id="272" r:id="rId5"/>
    <p:sldId id="273" r:id="rId6"/>
    <p:sldId id="274" r:id="rId7"/>
    <p:sldId id="275" r:id="rId8"/>
    <p:sldId id="276" r:id="rId9"/>
    <p:sldId id="277" r:id="rId10"/>
    <p:sldId id="278" r:id="rId11"/>
    <p:sldId id="279" r:id="rId12"/>
    <p:sldId id="28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F36A75-41E5-4818-9605-1E81DCAB7D61}" v="2" dt="2026-04-23T14:58:09.484"/>
    <p1510:client id="{F8A1C523-07A4-4656-A58D-3EFB6D8C9DE1}" v="67" dt="2026-04-23T00:05:06.960"/>
  </p1510:revLst>
</p1510:revInfo>
</file>

<file path=ppt/tableStyles.xml><?xml version="1.0" encoding="utf-8"?>
<a:tblStyleLst xmlns:a="http://schemas.openxmlformats.org/drawingml/2006/main" def="{5C22544A-7EE6-4342-B048-85BDC9FD1C3A}">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46" autoAdjust="0"/>
  </p:normalViewPr>
  <p:slideViewPr>
    <p:cSldViewPr snapToGrid="0">
      <p:cViewPr varScale="1">
        <p:scale>
          <a:sx n="101" d="100"/>
          <a:sy n="101" d="100"/>
        </p:scale>
        <p:origin x="95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don Debus" userId="e0481a4c7914b810" providerId="LiveId" clId="{26B1F2E3-9A8A-4F47-9D1F-98E1BE9C259B}"/>
    <pc:docChg chg="undo custSel addSld delSld modSld sldOrd modMainMaster">
      <pc:chgData name="Jaydon Debus" userId="e0481a4c7914b810" providerId="LiveId" clId="{26B1F2E3-9A8A-4F47-9D1F-98E1BE9C259B}" dt="2026-04-23T14:58:09.484" v="777"/>
      <pc:docMkLst>
        <pc:docMk/>
      </pc:docMkLst>
      <pc:sldChg chg="modTransition">
        <pc:chgData name="Jaydon Debus" userId="e0481a4c7914b810" providerId="LiveId" clId="{26B1F2E3-9A8A-4F47-9D1F-98E1BE9C259B}" dt="2026-04-23T14:58:09.484" v="777"/>
        <pc:sldMkLst>
          <pc:docMk/>
          <pc:sldMk cId="4013062994" sldId="269"/>
        </pc:sldMkLst>
      </pc:sldChg>
      <pc:sldChg chg="modTransition">
        <pc:chgData name="Jaydon Debus" userId="e0481a4c7914b810" providerId="LiveId" clId="{26B1F2E3-9A8A-4F47-9D1F-98E1BE9C259B}" dt="2026-04-23T14:58:09.484" v="777"/>
        <pc:sldMkLst>
          <pc:docMk/>
          <pc:sldMk cId="542090421" sldId="270"/>
        </pc:sldMkLst>
      </pc:sldChg>
      <pc:sldChg chg="modTransition">
        <pc:chgData name="Jaydon Debus" userId="e0481a4c7914b810" providerId="LiveId" clId="{26B1F2E3-9A8A-4F47-9D1F-98E1BE9C259B}" dt="2026-04-23T14:58:09.484" v="777"/>
        <pc:sldMkLst>
          <pc:docMk/>
          <pc:sldMk cId="2848324849" sldId="271"/>
        </pc:sldMkLst>
      </pc:sldChg>
      <pc:sldChg chg="modTransition">
        <pc:chgData name="Jaydon Debus" userId="e0481a4c7914b810" providerId="LiveId" clId="{26B1F2E3-9A8A-4F47-9D1F-98E1BE9C259B}" dt="2026-04-23T14:58:09.484" v="777"/>
        <pc:sldMkLst>
          <pc:docMk/>
          <pc:sldMk cId="1012326538" sldId="272"/>
        </pc:sldMkLst>
      </pc:sldChg>
      <pc:sldChg chg="modTransition">
        <pc:chgData name="Jaydon Debus" userId="e0481a4c7914b810" providerId="LiveId" clId="{26B1F2E3-9A8A-4F47-9D1F-98E1BE9C259B}" dt="2026-04-23T14:58:09.484" v="777"/>
        <pc:sldMkLst>
          <pc:docMk/>
          <pc:sldMk cId="4084405825" sldId="273"/>
        </pc:sldMkLst>
      </pc:sldChg>
      <pc:sldChg chg="modSp mod modTransition">
        <pc:chgData name="Jaydon Debus" userId="e0481a4c7914b810" providerId="LiveId" clId="{26B1F2E3-9A8A-4F47-9D1F-98E1BE9C259B}" dt="2026-04-23T14:58:09.484" v="777"/>
        <pc:sldMkLst>
          <pc:docMk/>
          <pc:sldMk cId="1232747867" sldId="274"/>
        </pc:sldMkLst>
        <pc:spChg chg="mod">
          <ac:chgData name="Jaydon Debus" userId="e0481a4c7914b810" providerId="LiveId" clId="{26B1F2E3-9A8A-4F47-9D1F-98E1BE9C259B}" dt="2026-04-23T14:57:10.483" v="775" actId="20577"/>
          <ac:spMkLst>
            <pc:docMk/>
            <pc:sldMk cId="1232747867" sldId="274"/>
            <ac:spMk id="2" creationId="{FDD06E83-D9B0-534D-A0E7-732442863325}"/>
          </ac:spMkLst>
        </pc:spChg>
      </pc:sldChg>
      <pc:sldChg chg="modTransition">
        <pc:chgData name="Jaydon Debus" userId="e0481a4c7914b810" providerId="LiveId" clId="{26B1F2E3-9A8A-4F47-9D1F-98E1BE9C259B}" dt="2026-04-23T14:58:09.484" v="777"/>
        <pc:sldMkLst>
          <pc:docMk/>
          <pc:sldMk cId="3220470687" sldId="275"/>
        </pc:sldMkLst>
      </pc:sldChg>
      <pc:sldChg chg="modTransition">
        <pc:chgData name="Jaydon Debus" userId="e0481a4c7914b810" providerId="LiveId" clId="{26B1F2E3-9A8A-4F47-9D1F-98E1BE9C259B}" dt="2026-04-23T14:58:09.484" v="777"/>
        <pc:sldMkLst>
          <pc:docMk/>
          <pc:sldMk cId="2223070137" sldId="276"/>
        </pc:sldMkLst>
      </pc:sldChg>
      <pc:sldChg chg="modTransition">
        <pc:chgData name="Jaydon Debus" userId="e0481a4c7914b810" providerId="LiveId" clId="{26B1F2E3-9A8A-4F47-9D1F-98E1BE9C259B}" dt="2026-04-23T14:58:09.484" v="777"/>
        <pc:sldMkLst>
          <pc:docMk/>
          <pc:sldMk cId="3953661649" sldId="277"/>
        </pc:sldMkLst>
      </pc:sldChg>
      <pc:sldChg chg="modTransition">
        <pc:chgData name="Jaydon Debus" userId="e0481a4c7914b810" providerId="LiveId" clId="{26B1F2E3-9A8A-4F47-9D1F-98E1BE9C259B}" dt="2026-04-23T14:58:09.484" v="777"/>
        <pc:sldMkLst>
          <pc:docMk/>
          <pc:sldMk cId="681078630" sldId="278"/>
        </pc:sldMkLst>
      </pc:sldChg>
      <pc:sldChg chg="modTransition">
        <pc:chgData name="Jaydon Debus" userId="e0481a4c7914b810" providerId="LiveId" clId="{26B1F2E3-9A8A-4F47-9D1F-98E1BE9C259B}" dt="2026-04-23T14:58:09.484" v="777"/>
        <pc:sldMkLst>
          <pc:docMk/>
          <pc:sldMk cId="769870944" sldId="279"/>
        </pc:sldMkLst>
      </pc:sldChg>
      <pc:sldChg chg="modTransition">
        <pc:chgData name="Jaydon Debus" userId="e0481a4c7914b810" providerId="LiveId" clId="{26B1F2E3-9A8A-4F47-9D1F-98E1BE9C259B}" dt="2026-04-23T14:58:09.484" v="777"/>
        <pc:sldMkLst>
          <pc:docMk/>
          <pc:sldMk cId="3145049285" sldId="280"/>
        </pc:sldMkLst>
      </pc:sldChg>
      <pc:sldMasterChg chg="modTransition modSldLayout">
        <pc:chgData name="Jaydon Debus" userId="e0481a4c7914b810" providerId="LiveId" clId="{26B1F2E3-9A8A-4F47-9D1F-98E1BE9C259B}" dt="2026-04-23T14:58:09.484" v="777"/>
        <pc:sldMasterMkLst>
          <pc:docMk/>
          <pc:sldMasterMk cId="600313504" sldId="2147483678"/>
        </pc:sldMasterMkLst>
        <pc:sldLayoutChg chg="modTransition">
          <pc:chgData name="Jaydon Debus" userId="e0481a4c7914b810" providerId="LiveId" clId="{26B1F2E3-9A8A-4F47-9D1F-98E1BE9C259B}" dt="2026-04-23T14:58:09.484" v="777"/>
          <pc:sldLayoutMkLst>
            <pc:docMk/>
            <pc:sldMasterMk cId="600313504" sldId="2147483678"/>
            <pc:sldLayoutMk cId="3242769964" sldId="2147483679"/>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1418309912" sldId="2147483680"/>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877097138" sldId="2147483681"/>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1839089965" sldId="2147483682"/>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3644675430" sldId="2147483683"/>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1520757807" sldId="2147483684"/>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274164211" sldId="2147483685"/>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3992058174" sldId="2147483686"/>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2967222469" sldId="2147483687"/>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2118082743" sldId="2147483688"/>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536759687" sldId="2147483689"/>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2255634783" sldId="2147483690"/>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3159431120" sldId="2147483691"/>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1429170341" sldId="2147483692"/>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1099665846" sldId="2147483693"/>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2932134491" sldId="2147483694"/>
          </pc:sldLayoutMkLst>
        </pc:sldLayoutChg>
        <pc:sldLayoutChg chg="modTransition">
          <pc:chgData name="Jaydon Debus" userId="e0481a4c7914b810" providerId="LiveId" clId="{26B1F2E3-9A8A-4F47-9D1F-98E1BE9C259B}" dt="2026-04-23T14:58:09.484" v="777"/>
          <pc:sldLayoutMkLst>
            <pc:docMk/>
            <pc:sldMasterMk cId="600313504" sldId="2147483678"/>
            <pc:sldLayoutMk cId="3748838858" sldId="2147483695"/>
          </pc:sldLayoutMkLst>
        </pc:sldLayoutChg>
      </pc:sldMasterChg>
    </pc:docChg>
  </pc:docChgLst>
  <pc:docChgLst>
    <pc:chgData name="Jaydon Debus" userId="e0481a4c7914b810" providerId="LiveId" clId="{2AD7606E-2DAE-4AFB-9ED9-2C2ABCA6C8DF}"/>
    <pc:docChg chg="undo redo custSel addSld delSld modSld sldOrd">
      <pc:chgData name="Jaydon Debus" userId="e0481a4c7914b810" providerId="LiveId" clId="{2AD7606E-2DAE-4AFB-9ED9-2C2ABCA6C8DF}" dt="2026-04-23T00:05:06.729" v="339" actId="20577"/>
      <pc:docMkLst>
        <pc:docMk/>
      </pc:docMkLst>
      <pc:sldChg chg="modSp new del mod">
        <pc:chgData name="Jaydon Debus" userId="e0481a4c7914b810" providerId="LiveId" clId="{2AD7606E-2DAE-4AFB-9ED9-2C2ABCA6C8DF}" dt="2026-04-22T23:42:50.622" v="280"/>
        <pc:sldMkLst>
          <pc:docMk/>
          <pc:sldMk cId="801465588" sldId="256"/>
        </pc:sldMkLst>
      </pc:sldChg>
      <pc:sldChg chg="addSp delSp modSp new del mod">
        <pc:chgData name="Jaydon Debus" userId="e0481a4c7914b810" providerId="LiveId" clId="{2AD7606E-2DAE-4AFB-9ED9-2C2ABCA6C8DF}" dt="2026-04-22T23:43:10.278" v="282"/>
        <pc:sldMkLst>
          <pc:docMk/>
          <pc:sldMk cId="3578069785" sldId="257"/>
        </pc:sldMkLst>
      </pc:sldChg>
      <pc:sldChg chg="addSp delSp modSp new del mod ord">
        <pc:chgData name="Jaydon Debus" userId="e0481a4c7914b810" providerId="LiveId" clId="{2AD7606E-2DAE-4AFB-9ED9-2C2ABCA6C8DF}" dt="2026-04-22T23:43:26.815" v="284"/>
        <pc:sldMkLst>
          <pc:docMk/>
          <pc:sldMk cId="425362837" sldId="258"/>
        </pc:sldMkLst>
      </pc:sldChg>
      <pc:sldChg chg="addSp delSp modSp new del mod">
        <pc:chgData name="Jaydon Debus" userId="e0481a4c7914b810" providerId="LiveId" clId="{2AD7606E-2DAE-4AFB-9ED9-2C2ABCA6C8DF}" dt="2026-04-22T23:44:00.645" v="288"/>
        <pc:sldMkLst>
          <pc:docMk/>
          <pc:sldMk cId="3537684736" sldId="259"/>
        </pc:sldMkLst>
      </pc:sldChg>
      <pc:sldChg chg="addSp delSp modSp new del mod">
        <pc:chgData name="Jaydon Debus" userId="e0481a4c7914b810" providerId="LiveId" clId="{2AD7606E-2DAE-4AFB-9ED9-2C2ABCA6C8DF}" dt="2026-04-22T23:44:20.794" v="290"/>
        <pc:sldMkLst>
          <pc:docMk/>
          <pc:sldMk cId="819904147" sldId="260"/>
        </pc:sldMkLst>
      </pc:sldChg>
      <pc:sldChg chg="addSp delSp modSp new del mod modAnim">
        <pc:chgData name="Jaydon Debus" userId="e0481a4c7914b810" providerId="LiveId" clId="{2AD7606E-2DAE-4AFB-9ED9-2C2ABCA6C8DF}" dt="2026-04-22T23:45:20.647" v="296"/>
        <pc:sldMkLst>
          <pc:docMk/>
          <pc:sldMk cId="4195218608" sldId="262"/>
        </pc:sldMkLst>
      </pc:sldChg>
      <pc:sldChg chg="addSp delSp modSp new del mod">
        <pc:chgData name="Jaydon Debus" userId="e0481a4c7914b810" providerId="LiveId" clId="{2AD7606E-2DAE-4AFB-9ED9-2C2ABCA6C8DF}" dt="2026-04-22T23:45:41.673" v="298"/>
        <pc:sldMkLst>
          <pc:docMk/>
          <pc:sldMk cId="3664200002" sldId="263"/>
        </pc:sldMkLst>
      </pc:sldChg>
      <pc:sldChg chg="addSp delSp modSp new del mod">
        <pc:chgData name="Jaydon Debus" userId="e0481a4c7914b810" providerId="LiveId" clId="{2AD7606E-2DAE-4AFB-9ED9-2C2ABCA6C8DF}" dt="2026-04-22T23:46:02.768" v="300"/>
        <pc:sldMkLst>
          <pc:docMk/>
          <pc:sldMk cId="2455222844" sldId="264"/>
        </pc:sldMkLst>
      </pc:sldChg>
      <pc:sldChg chg="modSp new del mod">
        <pc:chgData name="Jaydon Debus" userId="e0481a4c7914b810" providerId="LiveId" clId="{2AD7606E-2DAE-4AFB-9ED9-2C2ABCA6C8DF}" dt="2026-04-22T23:46:23.059" v="302"/>
        <pc:sldMkLst>
          <pc:docMk/>
          <pc:sldMk cId="104450076" sldId="265"/>
        </pc:sldMkLst>
      </pc:sldChg>
      <pc:sldChg chg="modSp new add del mod">
        <pc:chgData name="Jaydon Debus" userId="e0481a4c7914b810" providerId="LiveId" clId="{2AD7606E-2DAE-4AFB-9ED9-2C2ABCA6C8DF}" dt="2026-04-22T23:43:43.939" v="286"/>
        <pc:sldMkLst>
          <pc:docMk/>
          <pc:sldMk cId="1051258883" sldId="266"/>
        </pc:sldMkLst>
      </pc:sldChg>
      <pc:sldChg chg="del">
        <pc:chgData name="Jaydon Debus" userId="e0481a4c7914b810" providerId="LiveId" clId="{2AD7606E-2DAE-4AFB-9ED9-2C2ABCA6C8DF}" dt="2026-04-22T23:44:39.094" v="292"/>
        <pc:sldMkLst>
          <pc:docMk/>
          <pc:sldMk cId="1747658144" sldId="267"/>
        </pc:sldMkLst>
      </pc:sldChg>
      <pc:sldChg chg="del">
        <pc:chgData name="Jaydon Debus" userId="e0481a4c7914b810" providerId="LiveId" clId="{2AD7606E-2DAE-4AFB-9ED9-2C2ABCA6C8DF}" dt="2026-04-22T23:45:00.394" v="294"/>
        <pc:sldMkLst>
          <pc:docMk/>
          <pc:sldMk cId="1879129242" sldId="268"/>
        </pc:sldMkLst>
      </pc:sldChg>
      <pc:sldChg chg="add modNotesTx">
        <pc:chgData name="Jaydon Debus" userId="e0481a4c7914b810" providerId="LiveId" clId="{2AD7606E-2DAE-4AFB-9ED9-2C2ABCA6C8DF}" dt="2026-04-22T23:49:10.609" v="303" actId="20577"/>
        <pc:sldMkLst>
          <pc:docMk/>
          <pc:sldMk cId="4013062994" sldId="269"/>
        </pc:sldMkLst>
      </pc:sldChg>
      <pc:sldChg chg="add">
        <pc:chgData name="Jaydon Debus" userId="e0481a4c7914b810" providerId="LiveId" clId="{2AD7606E-2DAE-4AFB-9ED9-2C2ABCA6C8DF}" dt="2026-04-22T23:43:10.270" v="281"/>
        <pc:sldMkLst>
          <pc:docMk/>
          <pc:sldMk cId="542090421" sldId="270"/>
        </pc:sldMkLst>
      </pc:sldChg>
      <pc:sldChg chg="modSp add mod">
        <pc:chgData name="Jaydon Debus" userId="e0481a4c7914b810" providerId="LiveId" clId="{2AD7606E-2DAE-4AFB-9ED9-2C2ABCA6C8DF}" dt="2026-04-22T23:56:52.196" v="309" actId="20577"/>
        <pc:sldMkLst>
          <pc:docMk/>
          <pc:sldMk cId="2848324849" sldId="271"/>
        </pc:sldMkLst>
        <pc:graphicFrameChg chg="modGraphic">
          <ac:chgData name="Jaydon Debus" userId="e0481a4c7914b810" providerId="LiveId" clId="{2AD7606E-2DAE-4AFB-9ED9-2C2ABCA6C8DF}" dt="2026-04-22T23:56:52.196" v="309" actId="20577"/>
          <ac:graphicFrameMkLst>
            <pc:docMk/>
            <pc:sldMk cId="2848324849" sldId="271"/>
            <ac:graphicFrameMk id="145" creationId="{FB07D5C1-8FF7-FD29-65CE-03C58DDFF49E}"/>
          </ac:graphicFrameMkLst>
        </pc:graphicFrameChg>
      </pc:sldChg>
      <pc:sldChg chg="modSp add mod modNotesTx">
        <pc:chgData name="Jaydon Debus" userId="e0481a4c7914b810" providerId="LiveId" clId="{2AD7606E-2DAE-4AFB-9ED9-2C2ABCA6C8DF}" dt="2026-04-23T00:05:06.729" v="339" actId="20577"/>
        <pc:sldMkLst>
          <pc:docMk/>
          <pc:sldMk cId="1012326538" sldId="272"/>
        </pc:sldMkLst>
        <pc:graphicFrameChg chg="modGraphic">
          <ac:chgData name="Jaydon Debus" userId="e0481a4c7914b810" providerId="LiveId" clId="{2AD7606E-2DAE-4AFB-9ED9-2C2ABCA6C8DF}" dt="2026-04-23T00:01:12.956" v="333" actId="403"/>
          <ac:graphicFrameMkLst>
            <pc:docMk/>
            <pc:sldMk cId="1012326538" sldId="272"/>
            <ac:graphicFrameMk id="5" creationId="{1FBE073F-AFD4-5DB4-E017-228F0D20A81E}"/>
          </ac:graphicFrameMkLst>
        </pc:graphicFrameChg>
      </pc:sldChg>
      <pc:sldChg chg="add">
        <pc:chgData name="Jaydon Debus" userId="e0481a4c7914b810" providerId="LiveId" clId="{2AD7606E-2DAE-4AFB-9ED9-2C2ABCA6C8DF}" dt="2026-04-22T23:44:00.640" v="287"/>
        <pc:sldMkLst>
          <pc:docMk/>
          <pc:sldMk cId="4084405825" sldId="273"/>
        </pc:sldMkLst>
      </pc:sldChg>
      <pc:sldChg chg="add modNotesTx">
        <pc:chgData name="Jaydon Debus" userId="e0481a4c7914b810" providerId="LiveId" clId="{2AD7606E-2DAE-4AFB-9ED9-2C2ABCA6C8DF}" dt="2026-04-23T00:02:50.856" v="335" actId="20577"/>
        <pc:sldMkLst>
          <pc:docMk/>
          <pc:sldMk cId="1232747867" sldId="274"/>
        </pc:sldMkLst>
      </pc:sldChg>
      <pc:sldChg chg="add">
        <pc:chgData name="Jaydon Debus" userId="e0481a4c7914b810" providerId="LiveId" clId="{2AD7606E-2DAE-4AFB-9ED9-2C2ABCA6C8DF}" dt="2026-04-22T23:44:39.089" v="291"/>
        <pc:sldMkLst>
          <pc:docMk/>
          <pc:sldMk cId="3220470687" sldId="275"/>
        </pc:sldMkLst>
      </pc:sldChg>
      <pc:sldChg chg="add">
        <pc:chgData name="Jaydon Debus" userId="e0481a4c7914b810" providerId="LiveId" clId="{2AD7606E-2DAE-4AFB-9ED9-2C2ABCA6C8DF}" dt="2026-04-22T23:45:00.389" v="293"/>
        <pc:sldMkLst>
          <pc:docMk/>
          <pc:sldMk cId="2223070137" sldId="276"/>
        </pc:sldMkLst>
      </pc:sldChg>
      <pc:sldChg chg="add modNotesTx">
        <pc:chgData name="Jaydon Debus" userId="e0481a4c7914b810" providerId="LiveId" clId="{2AD7606E-2DAE-4AFB-9ED9-2C2ABCA6C8DF}" dt="2026-04-22T23:55:04.777" v="304" actId="6549"/>
        <pc:sldMkLst>
          <pc:docMk/>
          <pc:sldMk cId="3953661649" sldId="277"/>
        </pc:sldMkLst>
      </pc:sldChg>
      <pc:sldChg chg="add">
        <pc:chgData name="Jaydon Debus" userId="e0481a4c7914b810" providerId="LiveId" clId="{2AD7606E-2DAE-4AFB-9ED9-2C2ABCA6C8DF}" dt="2026-04-22T23:45:41.667" v="297"/>
        <pc:sldMkLst>
          <pc:docMk/>
          <pc:sldMk cId="681078630" sldId="278"/>
        </pc:sldMkLst>
      </pc:sldChg>
      <pc:sldChg chg="add">
        <pc:chgData name="Jaydon Debus" userId="e0481a4c7914b810" providerId="LiveId" clId="{2AD7606E-2DAE-4AFB-9ED9-2C2ABCA6C8DF}" dt="2026-04-22T23:46:02.758" v="299"/>
        <pc:sldMkLst>
          <pc:docMk/>
          <pc:sldMk cId="769870944" sldId="279"/>
        </pc:sldMkLst>
      </pc:sldChg>
      <pc:sldChg chg="add">
        <pc:chgData name="Jaydon Debus" userId="e0481a4c7914b810" providerId="LiveId" clId="{2AD7606E-2DAE-4AFB-9ED9-2C2ABCA6C8DF}" dt="2026-04-22T23:46:23.053" v="301"/>
        <pc:sldMkLst>
          <pc:docMk/>
          <pc:sldMk cId="3145049285" sldId="28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754D50-1867-439F-A8AC-B7F2855B9125}" type="doc">
      <dgm:prSet loTypeId="urn:microsoft.com/office/officeart/2005/8/layout/vList2" loCatId="list" qsTypeId="urn:microsoft.com/office/officeart/2005/8/quickstyle/simple5" qsCatId="simple" csTypeId="urn:microsoft.com/office/officeart/2005/8/colors/accent5_2" csCatId="accent5" phldr="1"/>
      <dgm:spPr/>
      <dgm:t>
        <a:bodyPr/>
        <a:lstStyle/>
        <a:p>
          <a:endParaRPr lang="en-US"/>
        </a:p>
      </dgm:t>
    </dgm:pt>
    <dgm:pt modelId="{3B77192A-1129-4D80-8E20-4107CCFBC4A5}">
      <dgm:prSet/>
      <dgm:spPr/>
      <dgm:t>
        <a:bodyPr/>
        <a:lstStyle/>
        <a:p>
          <a:r>
            <a:rPr lang="en-US" dirty="0"/>
            <a:t>Every day, millions of customers share their experiences through online reviews</a:t>
          </a:r>
        </a:p>
      </dgm:t>
    </dgm:pt>
    <dgm:pt modelId="{D9369AD8-450D-42BE-869C-53A63651A137}" type="parTrans" cxnId="{FE9AB297-4505-465F-A4E4-7D65DE7FE499}">
      <dgm:prSet/>
      <dgm:spPr/>
      <dgm:t>
        <a:bodyPr/>
        <a:lstStyle/>
        <a:p>
          <a:endParaRPr lang="en-US"/>
        </a:p>
      </dgm:t>
    </dgm:pt>
    <dgm:pt modelId="{D8F95CE8-5E6D-461D-88E3-7E346B9BB7B8}" type="sibTrans" cxnId="{FE9AB297-4505-465F-A4E4-7D65DE7FE499}">
      <dgm:prSet/>
      <dgm:spPr/>
      <dgm:t>
        <a:bodyPr/>
        <a:lstStyle/>
        <a:p>
          <a:endParaRPr lang="en-US"/>
        </a:p>
      </dgm:t>
    </dgm:pt>
    <dgm:pt modelId="{F75CB399-D470-4FA0-8600-C9E99CDFEF80}">
      <dgm:prSet/>
      <dgm:spPr/>
      <dgm:t>
        <a:bodyPr/>
        <a:lstStyle/>
        <a:p>
          <a:r>
            <a:rPr lang="en-US"/>
            <a:t>For companies like Amazon, understanding customer sentiment at scale is critical for product improvement, brand monitoring, and competitive strategy</a:t>
          </a:r>
        </a:p>
      </dgm:t>
    </dgm:pt>
    <dgm:pt modelId="{18B47E4F-B9D5-4AA1-8DE1-586E55401E99}" type="parTrans" cxnId="{06508C88-7442-44F7-A409-9ED24410D8CA}">
      <dgm:prSet/>
      <dgm:spPr/>
      <dgm:t>
        <a:bodyPr/>
        <a:lstStyle/>
        <a:p>
          <a:endParaRPr lang="en-US"/>
        </a:p>
      </dgm:t>
    </dgm:pt>
    <dgm:pt modelId="{C39857AB-FAA4-4309-97BD-F02172939940}" type="sibTrans" cxnId="{06508C88-7442-44F7-A409-9ED24410D8CA}">
      <dgm:prSet/>
      <dgm:spPr/>
      <dgm:t>
        <a:bodyPr/>
        <a:lstStyle/>
        <a:p>
          <a:endParaRPr lang="en-US"/>
        </a:p>
      </dgm:t>
    </dgm:pt>
    <dgm:pt modelId="{768D3067-8B89-4592-9CE8-B728B56A0758}">
      <dgm:prSet/>
      <dgm:spPr/>
      <dgm:t>
        <a:bodyPr/>
        <a:lstStyle/>
        <a:p>
          <a:r>
            <a:rPr lang="en-US" dirty="0"/>
            <a:t>Manually reading and categorizing millions of reviews is impossible. businesses need automated, scalable solutions</a:t>
          </a:r>
        </a:p>
      </dgm:t>
    </dgm:pt>
    <dgm:pt modelId="{43098565-7769-4221-9B55-72EF76DE35B4}" type="parTrans" cxnId="{E4205ED9-1684-4C5C-B2DB-4D6DBB2F3FFB}">
      <dgm:prSet/>
      <dgm:spPr/>
      <dgm:t>
        <a:bodyPr/>
        <a:lstStyle/>
        <a:p>
          <a:endParaRPr lang="en-US"/>
        </a:p>
      </dgm:t>
    </dgm:pt>
    <dgm:pt modelId="{A576539D-C823-42A6-8AAA-28A08CE72CF3}" type="sibTrans" cxnId="{E4205ED9-1684-4C5C-B2DB-4D6DBB2F3FFB}">
      <dgm:prSet/>
      <dgm:spPr/>
      <dgm:t>
        <a:bodyPr/>
        <a:lstStyle/>
        <a:p>
          <a:endParaRPr lang="en-US"/>
        </a:p>
      </dgm:t>
    </dgm:pt>
    <dgm:pt modelId="{96655305-3BE0-45D6-9108-14E9800490E7}">
      <dgm:prSet/>
      <dgm:spPr/>
      <dgm:t>
        <a:bodyPr/>
        <a:lstStyle/>
        <a:p>
          <a:r>
            <a:rPr lang="en-US" i="1"/>
            <a:t>Goal: Build a scalable, distributed sentiment analysis pipeline and validate its performance across increasing dataset sizes</a:t>
          </a:r>
          <a:endParaRPr lang="en-US"/>
        </a:p>
      </dgm:t>
    </dgm:pt>
    <dgm:pt modelId="{FDAA58CA-7900-489A-B3A4-E988C96AF89C}" type="parTrans" cxnId="{AC4EF3FC-8DDD-45D7-972C-5DF87BD89F46}">
      <dgm:prSet/>
      <dgm:spPr/>
      <dgm:t>
        <a:bodyPr/>
        <a:lstStyle/>
        <a:p>
          <a:endParaRPr lang="en-US"/>
        </a:p>
      </dgm:t>
    </dgm:pt>
    <dgm:pt modelId="{2B613348-A5F3-4B71-8F7E-66227EF520E3}" type="sibTrans" cxnId="{AC4EF3FC-8DDD-45D7-972C-5DF87BD89F46}">
      <dgm:prSet/>
      <dgm:spPr/>
      <dgm:t>
        <a:bodyPr/>
        <a:lstStyle/>
        <a:p>
          <a:endParaRPr lang="en-US"/>
        </a:p>
      </dgm:t>
    </dgm:pt>
    <dgm:pt modelId="{B53F0E40-CA5E-491D-BC96-E5F27A92859F}" type="pres">
      <dgm:prSet presAssocID="{2E754D50-1867-439F-A8AC-B7F2855B9125}" presName="linear" presStyleCnt="0">
        <dgm:presLayoutVars>
          <dgm:animLvl val="lvl"/>
          <dgm:resizeHandles val="exact"/>
        </dgm:presLayoutVars>
      </dgm:prSet>
      <dgm:spPr/>
    </dgm:pt>
    <dgm:pt modelId="{A64B2FB8-CE82-40F5-BBB9-6163043A17CB}" type="pres">
      <dgm:prSet presAssocID="{3B77192A-1129-4D80-8E20-4107CCFBC4A5}" presName="parentText" presStyleLbl="node1" presStyleIdx="0" presStyleCnt="4">
        <dgm:presLayoutVars>
          <dgm:chMax val="0"/>
          <dgm:bulletEnabled val="1"/>
        </dgm:presLayoutVars>
      </dgm:prSet>
      <dgm:spPr/>
    </dgm:pt>
    <dgm:pt modelId="{61AB6CC4-B879-4FB4-982E-C8FD99BC7486}" type="pres">
      <dgm:prSet presAssocID="{D8F95CE8-5E6D-461D-88E3-7E346B9BB7B8}" presName="spacer" presStyleCnt="0"/>
      <dgm:spPr/>
    </dgm:pt>
    <dgm:pt modelId="{4AE062E7-AFA7-4EF3-B3DE-2760EEE4CCF6}" type="pres">
      <dgm:prSet presAssocID="{F75CB399-D470-4FA0-8600-C9E99CDFEF80}" presName="parentText" presStyleLbl="node1" presStyleIdx="1" presStyleCnt="4">
        <dgm:presLayoutVars>
          <dgm:chMax val="0"/>
          <dgm:bulletEnabled val="1"/>
        </dgm:presLayoutVars>
      </dgm:prSet>
      <dgm:spPr/>
    </dgm:pt>
    <dgm:pt modelId="{04A757CB-C87B-4872-9E42-B1E011F4497D}" type="pres">
      <dgm:prSet presAssocID="{C39857AB-FAA4-4309-97BD-F02172939940}" presName="spacer" presStyleCnt="0"/>
      <dgm:spPr/>
    </dgm:pt>
    <dgm:pt modelId="{254E47C3-1885-4AC5-9145-6696EDDEBBCA}" type="pres">
      <dgm:prSet presAssocID="{768D3067-8B89-4592-9CE8-B728B56A0758}" presName="parentText" presStyleLbl="node1" presStyleIdx="2" presStyleCnt="4">
        <dgm:presLayoutVars>
          <dgm:chMax val="0"/>
          <dgm:bulletEnabled val="1"/>
        </dgm:presLayoutVars>
      </dgm:prSet>
      <dgm:spPr/>
    </dgm:pt>
    <dgm:pt modelId="{E0871BE7-2E58-409F-B6C7-273C80119CB8}" type="pres">
      <dgm:prSet presAssocID="{A576539D-C823-42A6-8AAA-28A08CE72CF3}" presName="spacer" presStyleCnt="0"/>
      <dgm:spPr/>
    </dgm:pt>
    <dgm:pt modelId="{5D22579B-FA16-46C0-BF3B-04C2D99D936B}" type="pres">
      <dgm:prSet presAssocID="{96655305-3BE0-45D6-9108-14E9800490E7}" presName="parentText" presStyleLbl="node1" presStyleIdx="3" presStyleCnt="4">
        <dgm:presLayoutVars>
          <dgm:chMax val="0"/>
          <dgm:bulletEnabled val="1"/>
        </dgm:presLayoutVars>
      </dgm:prSet>
      <dgm:spPr/>
    </dgm:pt>
  </dgm:ptLst>
  <dgm:cxnLst>
    <dgm:cxn modelId="{F6C9930E-92AA-4747-9245-65A4A37DC070}" type="presOf" srcId="{3B77192A-1129-4D80-8E20-4107CCFBC4A5}" destId="{A64B2FB8-CE82-40F5-BBB9-6163043A17CB}" srcOrd="0" destOrd="0" presId="urn:microsoft.com/office/officeart/2005/8/layout/vList2"/>
    <dgm:cxn modelId="{2B1FC917-0CFD-49BB-BF39-643880F90A46}" type="presOf" srcId="{F75CB399-D470-4FA0-8600-C9E99CDFEF80}" destId="{4AE062E7-AFA7-4EF3-B3DE-2760EEE4CCF6}" srcOrd="0" destOrd="0" presId="urn:microsoft.com/office/officeart/2005/8/layout/vList2"/>
    <dgm:cxn modelId="{91183A36-BE62-44F6-825D-ABA40E851178}" type="presOf" srcId="{96655305-3BE0-45D6-9108-14E9800490E7}" destId="{5D22579B-FA16-46C0-BF3B-04C2D99D936B}" srcOrd="0" destOrd="0" presId="urn:microsoft.com/office/officeart/2005/8/layout/vList2"/>
    <dgm:cxn modelId="{06508C88-7442-44F7-A409-9ED24410D8CA}" srcId="{2E754D50-1867-439F-A8AC-B7F2855B9125}" destId="{F75CB399-D470-4FA0-8600-C9E99CDFEF80}" srcOrd="1" destOrd="0" parTransId="{18B47E4F-B9D5-4AA1-8DE1-586E55401E99}" sibTransId="{C39857AB-FAA4-4309-97BD-F02172939940}"/>
    <dgm:cxn modelId="{FE9AB297-4505-465F-A4E4-7D65DE7FE499}" srcId="{2E754D50-1867-439F-A8AC-B7F2855B9125}" destId="{3B77192A-1129-4D80-8E20-4107CCFBC4A5}" srcOrd="0" destOrd="0" parTransId="{D9369AD8-450D-42BE-869C-53A63651A137}" sibTransId="{D8F95CE8-5E6D-461D-88E3-7E346B9BB7B8}"/>
    <dgm:cxn modelId="{7A7457A4-7C71-451F-8F29-C5B33A5AE559}" type="presOf" srcId="{2E754D50-1867-439F-A8AC-B7F2855B9125}" destId="{B53F0E40-CA5E-491D-BC96-E5F27A92859F}" srcOrd="0" destOrd="0" presId="urn:microsoft.com/office/officeart/2005/8/layout/vList2"/>
    <dgm:cxn modelId="{71F5E9CE-AF08-42B6-97DA-F95F34DE5B68}" type="presOf" srcId="{768D3067-8B89-4592-9CE8-B728B56A0758}" destId="{254E47C3-1885-4AC5-9145-6696EDDEBBCA}" srcOrd="0" destOrd="0" presId="urn:microsoft.com/office/officeart/2005/8/layout/vList2"/>
    <dgm:cxn modelId="{E4205ED9-1684-4C5C-B2DB-4D6DBB2F3FFB}" srcId="{2E754D50-1867-439F-A8AC-B7F2855B9125}" destId="{768D3067-8B89-4592-9CE8-B728B56A0758}" srcOrd="2" destOrd="0" parTransId="{43098565-7769-4221-9B55-72EF76DE35B4}" sibTransId="{A576539D-C823-42A6-8AAA-28A08CE72CF3}"/>
    <dgm:cxn modelId="{AC4EF3FC-8DDD-45D7-972C-5DF87BD89F46}" srcId="{2E754D50-1867-439F-A8AC-B7F2855B9125}" destId="{96655305-3BE0-45D6-9108-14E9800490E7}" srcOrd="3" destOrd="0" parTransId="{FDAA58CA-7900-489A-B3A4-E988C96AF89C}" sibTransId="{2B613348-A5F3-4B71-8F7E-66227EF520E3}"/>
    <dgm:cxn modelId="{442E1265-191E-4336-8E8D-73F11485982C}" type="presParOf" srcId="{B53F0E40-CA5E-491D-BC96-E5F27A92859F}" destId="{A64B2FB8-CE82-40F5-BBB9-6163043A17CB}" srcOrd="0" destOrd="0" presId="urn:microsoft.com/office/officeart/2005/8/layout/vList2"/>
    <dgm:cxn modelId="{DFC9A37F-0362-44B1-A471-95EBA10BFBF3}" type="presParOf" srcId="{B53F0E40-CA5E-491D-BC96-E5F27A92859F}" destId="{61AB6CC4-B879-4FB4-982E-C8FD99BC7486}" srcOrd="1" destOrd="0" presId="urn:microsoft.com/office/officeart/2005/8/layout/vList2"/>
    <dgm:cxn modelId="{813CF069-B147-4312-ADFE-5A7A0292D7FC}" type="presParOf" srcId="{B53F0E40-CA5E-491D-BC96-E5F27A92859F}" destId="{4AE062E7-AFA7-4EF3-B3DE-2760EEE4CCF6}" srcOrd="2" destOrd="0" presId="urn:microsoft.com/office/officeart/2005/8/layout/vList2"/>
    <dgm:cxn modelId="{476002A9-02A5-41F1-B22A-88DFE48427FD}" type="presParOf" srcId="{B53F0E40-CA5E-491D-BC96-E5F27A92859F}" destId="{04A757CB-C87B-4872-9E42-B1E011F4497D}" srcOrd="3" destOrd="0" presId="urn:microsoft.com/office/officeart/2005/8/layout/vList2"/>
    <dgm:cxn modelId="{93063A20-6B36-4DD5-8A15-F2BDE1D3205C}" type="presParOf" srcId="{B53F0E40-CA5E-491D-BC96-E5F27A92859F}" destId="{254E47C3-1885-4AC5-9145-6696EDDEBBCA}" srcOrd="4" destOrd="0" presId="urn:microsoft.com/office/officeart/2005/8/layout/vList2"/>
    <dgm:cxn modelId="{77B8EDD4-4153-44F3-BE3E-DD53E54280B5}" type="presParOf" srcId="{B53F0E40-CA5E-491D-BC96-E5F27A92859F}" destId="{E0871BE7-2E58-409F-B6C7-273C80119CB8}" srcOrd="5" destOrd="0" presId="urn:microsoft.com/office/officeart/2005/8/layout/vList2"/>
    <dgm:cxn modelId="{EB4611EE-3117-497E-9C28-03BAA4B7EB91}" type="presParOf" srcId="{B53F0E40-CA5E-491D-BC96-E5F27A92859F}" destId="{5D22579B-FA16-46C0-BF3B-04C2D99D936B}"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3BBCB0-FAC0-431C-9635-7DEA688932B5}" type="doc">
      <dgm:prSet loTypeId="urn:microsoft.com/office/officeart/2005/8/layout/vList2" loCatId="list" qsTypeId="urn:microsoft.com/office/officeart/2005/8/quickstyle/simple5" qsCatId="simple" csTypeId="urn:microsoft.com/office/officeart/2005/8/colors/accent2_2" csCatId="accent2" phldr="1"/>
      <dgm:spPr/>
      <dgm:t>
        <a:bodyPr/>
        <a:lstStyle/>
        <a:p>
          <a:endParaRPr lang="en-US"/>
        </a:p>
      </dgm:t>
    </dgm:pt>
    <dgm:pt modelId="{9EE2B86B-8AF7-4DD7-AB6B-6D3D64E3FCD6}">
      <dgm:prSet/>
      <dgm:spPr/>
      <dgm:t>
        <a:bodyPr/>
        <a:lstStyle/>
        <a:p>
          <a:r>
            <a:rPr lang="en-US" dirty="0"/>
            <a:t>Aravindan et al. (2023) confirmed that Logistic Regression with TF-IDF achieves over 87% accuracy on Amazon fine food review data using </a:t>
          </a:r>
          <a:r>
            <a:rPr lang="en-US" dirty="0" err="1"/>
            <a:t>PySpark</a:t>
          </a:r>
          <a:r>
            <a:rPr lang="en-US" dirty="0"/>
            <a:t> </a:t>
          </a:r>
          <a:r>
            <a:rPr lang="en-US" dirty="0" err="1"/>
            <a:t>Mllib</a:t>
          </a:r>
          <a:r>
            <a:rPr lang="en-US" dirty="0"/>
            <a:t>.</a:t>
          </a:r>
        </a:p>
      </dgm:t>
    </dgm:pt>
    <dgm:pt modelId="{00707F36-45D7-450D-A4B0-52D5CC4DD139}" type="parTrans" cxnId="{E5D60B3A-00D9-4432-8347-E3EF8F307946}">
      <dgm:prSet/>
      <dgm:spPr/>
      <dgm:t>
        <a:bodyPr/>
        <a:lstStyle/>
        <a:p>
          <a:endParaRPr lang="en-US"/>
        </a:p>
      </dgm:t>
    </dgm:pt>
    <dgm:pt modelId="{DC3756E4-FAFD-4ED6-BE3F-50510BEB4BCC}" type="sibTrans" cxnId="{E5D60B3A-00D9-4432-8347-E3EF8F307946}">
      <dgm:prSet phldrT="01" phldr="0"/>
      <dgm:spPr/>
      <dgm:t>
        <a:bodyPr/>
        <a:lstStyle/>
        <a:p>
          <a:endParaRPr lang="en-US"/>
        </a:p>
      </dgm:t>
    </dgm:pt>
    <dgm:pt modelId="{1170436B-6F15-453B-8807-4D5011DD8AAB}">
      <dgm:prSet/>
      <dgm:spPr/>
      <dgm:t>
        <a:bodyPr/>
        <a:lstStyle/>
        <a:p>
          <a:r>
            <a:rPr lang="en-US"/>
            <a:t>Bao (2024) demonstrated that rule-based models like VADER struggle with complex, longer review text. supports the use of a trained ML classifier</a:t>
          </a:r>
        </a:p>
      </dgm:t>
    </dgm:pt>
    <dgm:pt modelId="{78B683DB-FB27-4FE9-B309-2C220FBB1B8B}" type="parTrans" cxnId="{1B04268F-DB63-4986-9009-0845E5C17D13}">
      <dgm:prSet/>
      <dgm:spPr/>
      <dgm:t>
        <a:bodyPr/>
        <a:lstStyle/>
        <a:p>
          <a:endParaRPr lang="en-US"/>
        </a:p>
      </dgm:t>
    </dgm:pt>
    <dgm:pt modelId="{3D4FA6C4-1CCF-452A-BC87-5CCAB2D70E6B}" type="sibTrans" cxnId="{1B04268F-DB63-4986-9009-0845E5C17D13}">
      <dgm:prSet phldrT="02" phldr="0"/>
      <dgm:spPr/>
      <dgm:t>
        <a:bodyPr/>
        <a:lstStyle/>
        <a:p>
          <a:endParaRPr lang="en-US"/>
        </a:p>
      </dgm:t>
    </dgm:pt>
    <dgm:pt modelId="{131C2E84-D4E2-463F-B35F-BB3B13EF4AA8}">
      <dgm:prSet/>
      <dgm:spPr/>
      <dgm:t>
        <a:bodyPr/>
        <a:lstStyle/>
        <a:p>
          <a:r>
            <a:rPr lang="en-US"/>
            <a:t>Olalekan (2025) confirms binary sentiment classification (Positive vs. Negative) remains the most widely validated and interpretable approach for e-commerce reviews</a:t>
          </a:r>
        </a:p>
      </dgm:t>
    </dgm:pt>
    <dgm:pt modelId="{182C7DDA-41BA-49AE-8BB6-4DFECA225966}" type="parTrans" cxnId="{63F7D849-F37E-4D7C-A875-6D0CB8FA0A8E}">
      <dgm:prSet/>
      <dgm:spPr/>
      <dgm:t>
        <a:bodyPr/>
        <a:lstStyle/>
        <a:p>
          <a:endParaRPr lang="en-US"/>
        </a:p>
      </dgm:t>
    </dgm:pt>
    <dgm:pt modelId="{64559D98-BD42-4BC1-A5A3-CBAE5096C23B}" type="sibTrans" cxnId="{63F7D849-F37E-4D7C-A875-6D0CB8FA0A8E}">
      <dgm:prSet phldrT="03" phldr="0"/>
      <dgm:spPr/>
      <dgm:t>
        <a:bodyPr/>
        <a:lstStyle/>
        <a:p>
          <a:endParaRPr lang="en-US"/>
        </a:p>
      </dgm:t>
    </dgm:pt>
    <dgm:pt modelId="{69276629-3865-4C81-A515-81B01ABF5067}">
      <dgm:prSet/>
      <dgm:spPr/>
      <dgm:t>
        <a:bodyPr/>
        <a:lstStyle/>
        <a:p>
          <a:r>
            <a:rPr lang="en-US"/>
            <a:t>3-star reviews are consistently identified in the literature as mixed-sentiment signals that introduce label noise — justifying their exclusion from our dataset</a:t>
          </a:r>
        </a:p>
      </dgm:t>
    </dgm:pt>
    <dgm:pt modelId="{79F23EF4-70A9-4843-B21D-615061C52713}" type="parTrans" cxnId="{26EEAC1B-F55F-4E14-8F98-43EE1F73A93B}">
      <dgm:prSet/>
      <dgm:spPr/>
      <dgm:t>
        <a:bodyPr/>
        <a:lstStyle/>
        <a:p>
          <a:endParaRPr lang="en-US"/>
        </a:p>
      </dgm:t>
    </dgm:pt>
    <dgm:pt modelId="{E40D5466-E258-43CE-A2CA-81CF86095486}" type="sibTrans" cxnId="{26EEAC1B-F55F-4E14-8F98-43EE1F73A93B}">
      <dgm:prSet phldrT="04" phldr="0"/>
      <dgm:spPr/>
      <dgm:t>
        <a:bodyPr/>
        <a:lstStyle/>
        <a:p>
          <a:endParaRPr lang="en-US"/>
        </a:p>
      </dgm:t>
    </dgm:pt>
    <dgm:pt modelId="{A917C50D-764C-40F5-9B6A-F9F9E28A9112}" type="pres">
      <dgm:prSet presAssocID="{693BBCB0-FAC0-431C-9635-7DEA688932B5}" presName="linear" presStyleCnt="0">
        <dgm:presLayoutVars>
          <dgm:animLvl val="lvl"/>
          <dgm:resizeHandles val="exact"/>
        </dgm:presLayoutVars>
      </dgm:prSet>
      <dgm:spPr/>
    </dgm:pt>
    <dgm:pt modelId="{4629A3C4-63BF-42D4-9D7C-118FBAC1F10F}" type="pres">
      <dgm:prSet presAssocID="{9EE2B86B-8AF7-4DD7-AB6B-6D3D64E3FCD6}" presName="parentText" presStyleLbl="node1" presStyleIdx="0" presStyleCnt="4">
        <dgm:presLayoutVars>
          <dgm:chMax val="0"/>
          <dgm:bulletEnabled val="1"/>
        </dgm:presLayoutVars>
      </dgm:prSet>
      <dgm:spPr/>
    </dgm:pt>
    <dgm:pt modelId="{88186136-E83D-4067-80DC-4AE9EC3D299A}" type="pres">
      <dgm:prSet presAssocID="{DC3756E4-FAFD-4ED6-BE3F-50510BEB4BCC}" presName="spacer" presStyleCnt="0"/>
      <dgm:spPr/>
    </dgm:pt>
    <dgm:pt modelId="{F9C233F0-572F-46F3-BB83-F2C763B2D016}" type="pres">
      <dgm:prSet presAssocID="{1170436B-6F15-453B-8807-4D5011DD8AAB}" presName="parentText" presStyleLbl="node1" presStyleIdx="1" presStyleCnt="4">
        <dgm:presLayoutVars>
          <dgm:chMax val="0"/>
          <dgm:bulletEnabled val="1"/>
        </dgm:presLayoutVars>
      </dgm:prSet>
      <dgm:spPr/>
    </dgm:pt>
    <dgm:pt modelId="{EAC15C51-24B5-4C13-8DA8-0943F71BBCAC}" type="pres">
      <dgm:prSet presAssocID="{3D4FA6C4-1CCF-452A-BC87-5CCAB2D70E6B}" presName="spacer" presStyleCnt="0"/>
      <dgm:spPr/>
    </dgm:pt>
    <dgm:pt modelId="{AA2C61E4-79D2-4FF0-888F-4F015F6F15F2}" type="pres">
      <dgm:prSet presAssocID="{131C2E84-D4E2-463F-B35F-BB3B13EF4AA8}" presName="parentText" presStyleLbl="node1" presStyleIdx="2" presStyleCnt="4">
        <dgm:presLayoutVars>
          <dgm:chMax val="0"/>
          <dgm:bulletEnabled val="1"/>
        </dgm:presLayoutVars>
      </dgm:prSet>
      <dgm:spPr/>
    </dgm:pt>
    <dgm:pt modelId="{6DC79670-4075-4CDE-8690-5F5B3787FD0A}" type="pres">
      <dgm:prSet presAssocID="{64559D98-BD42-4BC1-A5A3-CBAE5096C23B}" presName="spacer" presStyleCnt="0"/>
      <dgm:spPr/>
    </dgm:pt>
    <dgm:pt modelId="{0194EABA-C532-46CF-B37B-F5606BF007A1}" type="pres">
      <dgm:prSet presAssocID="{69276629-3865-4C81-A515-81B01ABF5067}" presName="parentText" presStyleLbl="node1" presStyleIdx="3" presStyleCnt="4">
        <dgm:presLayoutVars>
          <dgm:chMax val="0"/>
          <dgm:bulletEnabled val="1"/>
        </dgm:presLayoutVars>
      </dgm:prSet>
      <dgm:spPr/>
    </dgm:pt>
  </dgm:ptLst>
  <dgm:cxnLst>
    <dgm:cxn modelId="{A0F68B0E-3109-4476-B951-751208C573F7}" type="presOf" srcId="{131C2E84-D4E2-463F-B35F-BB3B13EF4AA8}" destId="{AA2C61E4-79D2-4FF0-888F-4F015F6F15F2}" srcOrd="0" destOrd="0" presId="urn:microsoft.com/office/officeart/2005/8/layout/vList2"/>
    <dgm:cxn modelId="{1DD49311-201F-42B1-BA7E-C1E5A1917B1D}" type="presOf" srcId="{69276629-3865-4C81-A515-81B01ABF5067}" destId="{0194EABA-C532-46CF-B37B-F5606BF007A1}" srcOrd="0" destOrd="0" presId="urn:microsoft.com/office/officeart/2005/8/layout/vList2"/>
    <dgm:cxn modelId="{26EEAC1B-F55F-4E14-8F98-43EE1F73A93B}" srcId="{693BBCB0-FAC0-431C-9635-7DEA688932B5}" destId="{69276629-3865-4C81-A515-81B01ABF5067}" srcOrd="3" destOrd="0" parTransId="{79F23EF4-70A9-4843-B21D-615061C52713}" sibTransId="{E40D5466-E258-43CE-A2CA-81CF86095486}"/>
    <dgm:cxn modelId="{E5D60B3A-00D9-4432-8347-E3EF8F307946}" srcId="{693BBCB0-FAC0-431C-9635-7DEA688932B5}" destId="{9EE2B86B-8AF7-4DD7-AB6B-6D3D64E3FCD6}" srcOrd="0" destOrd="0" parTransId="{00707F36-45D7-450D-A4B0-52D5CC4DD139}" sibTransId="{DC3756E4-FAFD-4ED6-BE3F-50510BEB4BCC}"/>
    <dgm:cxn modelId="{63F7D849-F37E-4D7C-A875-6D0CB8FA0A8E}" srcId="{693BBCB0-FAC0-431C-9635-7DEA688932B5}" destId="{131C2E84-D4E2-463F-B35F-BB3B13EF4AA8}" srcOrd="2" destOrd="0" parTransId="{182C7DDA-41BA-49AE-8BB6-4DFECA225966}" sibTransId="{64559D98-BD42-4BC1-A5A3-CBAE5096C23B}"/>
    <dgm:cxn modelId="{072DCF6B-1A15-4EB0-A3E1-569325A4A07F}" type="presOf" srcId="{9EE2B86B-8AF7-4DD7-AB6B-6D3D64E3FCD6}" destId="{4629A3C4-63BF-42D4-9D7C-118FBAC1F10F}" srcOrd="0" destOrd="0" presId="urn:microsoft.com/office/officeart/2005/8/layout/vList2"/>
    <dgm:cxn modelId="{AE86706C-EF5F-4DC2-BFBB-D6E18A199860}" type="presOf" srcId="{1170436B-6F15-453B-8807-4D5011DD8AAB}" destId="{F9C233F0-572F-46F3-BB83-F2C763B2D016}" srcOrd="0" destOrd="0" presId="urn:microsoft.com/office/officeart/2005/8/layout/vList2"/>
    <dgm:cxn modelId="{1B04268F-DB63-4986-9009-0845E5C17D13}" srcId="{693BBCB0-FAC0-431C-9635-7DEA688932B5}" destId="{1170436B-6F15-453B-8807-4D5011DD8AAB}" srcOrd="1" destOrd="0" parTransId="{78B683DB-FB27-4FE9-B309-2C220FBB1B8B}" sibTransId="{3D4FA6C4-1CCF-452A-BC87-5CCAB2D70E6B}"/>
    <dgm:cxn modelId="{C7564CBA-E436-4D20-BA63-730CBDAF8090}" type="presOf" srcId="{693BBCB0-FAC0-431C-9635-7DEA688932B5}" destId="{A917C50D-764C-40F5-9B6A-F9F9E28A9112}" srcOrd="0" destOrd="0" presId="urn:microsoft.com/office/officeart/2005/8/layout/vList2"/>
    <dgm:cxn modelId="{18265C65-3D76-4C01-B02C-2CB3E35CEAA3}" type="presParOf" srcId="{A917C50D-764C-40F5-9B6A-F9F9E28A9112}" destId="{4629A3C4-63BF-42D4-9D7C-118FBAC1F10F}" srcOrd="0" destOrd="0" presId="urn:microsoft.com/office/officeart/2005/8/layout/vList2"/>
    <dgm:cxn modelId="{FC026225-F7F9-40F5-BB23-76578CCF814E}" type="presParOf" srcId="{A917C50D-764C-40F5-9B6A-F9F9E28A9112}" destId="{88186136-E83D-4067-80DC-4AE9EC3D299A}" srcOrd="1" destOrd="0" presId="urn:microsoft.com/office/officeart/2005/8/layout/vList2"/>
    <dgm:cxn modelId="{2E0EC2CC-FDF2-483E-B8CB-7D69C5E28513}" type="presParOf" srcId="{A917C50D-764C-40F5-9B6A-F9F9E28A9112}" destId="{F9C233F0-572F-46F3-BB83-F2C763B2D016}" srcOrd="2" destOrd="0" presId="urn:microsoft.com/office/officeart/2005/8/layout/vList2"/>
    <dgm:cxn modelId="{093E76EC-19A9-4608-8BF3-90C7DB5C5018}" type="presParOf" srcId="{A917C50D-764C-40F5-9B6A-F9F9E28A9112}" destId="{EAC15C51-24B5-4C13-8DA8-0943F71BBCAC}" srcOrd="3" destOrd="0" presId="urn:microsoft.com/office/officeart/2005/8/layout/vList2"/>
    <dgm:cxn modelId="{53D49C68-96A2-4F44-A09F-12E171CFF631}" type="presParOf" srcId="{A917C50D-764C-40F5-9B6A-F9F9E28A9112}" destId="{AA2C61E4-79D2-4FF0-888F-4F015F6F15F2}" srcOrd="4" destOrd="0" presId="urn:microsoft.com/office/officeart/2005/8/layout/vList2"/>
    <dgm:cxn modelId="{F9421692-468C-4990-9711-910A7C222CE2}" type="presParOf" srcId="{A917C50D-764C-40F5-9B6A-F9F9E28A9112}" destId="{6DC79670-4075-4CDE-8690-5F5B3787FD0A}" srcOrd="5" destOrd="0" presId="urn:microsoft.com/office/officeart/2005/8/layout/vList2"/>
    <dgm:cxn modelId="{5A2455A7-8390-489C-916B-7B98D1F7CB21}" type="presParOf" srcId="{A917C50D-764C-40F5-9B6A-F9F9E28A9112}" destId="{0194EABA-C532-46CF-B37B-F5606BF007A1}"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4A2CE7-A80D-4C44-AC55-542E1C043CA8}" type="doc">
      <dgm:prSet loTypeId="urn:microsoft.com/office/officeart/2016/7/layout/HorizontalActionList" loCatId="List" qsTypeId="urn:microsoft.com/office/officeart/2005/8/quickstyle/simple4" qsCatId="simple" csTypeId="urn:microsoft.com/office/officeart/2005/8/colors/colorful1" csCatId="colorful" phldr="1"/>
      <dgm:spPr/>
      <dgm:t>
        <a:bodyPr/>
        <a:lstStyle/>
        <a:p>
          <a:endParaRPr lang="en-US"/>
        </a:p>
      </dgm:t>
    </dgm:pt>
    <dgm:pt modelId="{8771106D-CCA1-48A9-ADEA-29B8451A1786}">
      <dgm:prSet custT="1"/>
      <dgm:spPr/>
      <dgm:t>
        <a:bodyPr/>
        <a:lstStyle/>
        <a:p>
          <a:r>
            <a:rPr lang="en-US" sz="1600" b="1"/>
            <a:t>Cloud Infrastructure</a:t>
          </a:r>
          <a:endParaRPr lang="en-US" sz="1600"/>
        </a:p>
      </dgm:t>
    </dgm:pt>
    <dgm:pt modelId="{EF0799E5-6D16-4781-BCD0-5E2C0AEDA5C0}" type="parTrans" cxnId="{3BD1662E-386E-4D68-A7CC-05F5FA02B0D3}">
      <dgm:prSet/>
      <dgm:spPr/>
      <dgm:t>
        <a:bodyPr/>
        <a:lstStyle/>
        <a:p>
          <a:endParaRPr lang="en-US"/>
        </a:p>
      </dgm:t>
    </dgm:pt>
    <dgm:pt modelId="{AFD43A12-9E58-457E-A008-0A358BDDE687}" type="sibTrans" cxnId="{3BD1662E-386E-4D68-A7CC-05F5FA02B0D3}">
      <dgm:prSet/>
      <dgm:spPr/>
      <dgm:t>
        <a:bodyPr/>
        <a:lstStyle/>
        <a:p>
          <a:endParaRPr lang="en-US"/>
        </a:p>
      </dgm:t>
    </dgm:pt>
    <dgm:pt modelId="{D68DB147-F442-45DD-BCAF-6027ED984B1F}">
      <dgm:prSet custT="1"/>
      <dgm:spPr/>
      <dgm:t>
        <a:bodyPr/>
        <a:lstStyle/>
        <a:p>
          <a:r>
            <a:rPr lang="en-US" sz="1200"/>
            <a:t>Google Cloud Platform (GCP) Dataproc Cluster</a:t>
          </a:r>
        </a:p>
      </dgm:t>
    </dgm:pt>
    <dgm:pt modelId="{9BB0D5B7-4B8E-4B9E-B1B5-E213F52553B0}" type="parTrans" cxnId="{C9D71180-3D1E-4885-9F1A-2D29B5127629}">
      <dgm:prSet/>
      <dgm:spPr/>
      <dgm:t>
        <a:bodyPr/>
        <a:lstStyle/>
        <a:p>
          <a:endParaRPr lang="en-US"/>
        </a:p>
      </dgm:t>
    </dgm:pt>
    <dgm:pt modelId="{25BAC7E7-9544-446F-9BC9-F2F722BBCAF1}" type="sibTrans" cxnId="{C9D71180-3D1E-4885-9F1A-2D29B5127629}">
      <dgm:prSet/>
      <dgm:spPr/>
      <dgm:t>
        <a:bodyPr/>
        <a:lstStyle/>
        <a:p>
          <a:endParaRPr lang="en-US"/>
        </a:p>
      </dgm:t>
    </dgm:pt>
    <dgm:pt modelId="{364E865A-86F1-43F1-8B1A-21BFA568469F}">
      <dgm:prSet custT="1"/>
      <dgm:spPr/>
      <dgm:t>
        <a:bodyPr/>
        <a:lstStyle/>
        <a:p>
          <a:r>
            <a:rPr lang="en-US" sz="1200"/>
            <a:t>Single-node instance — n1-standard-4, 15GB RAM</a:t>
          </a:r>
        </a:p>
      </dgm:t>
    </dgm:pt>
    <dgm:pt modelId="{D9154687-F6EC-4429-8B94-6329FDF28AA6}" type="parTrans" cxnId="{87D13AAF-E096-4A15-9B06-E3F0674B098E}">
      <dgm:prSet/>
      <dgm:spPr/>
      <dgm:t>
        <a:bodyPr/>
        <a:lstStyle/>
        <a:p>
          <a:endParaRPr lang="en-US"/>
        </a:p>
      </dgm:t>
    </dgm:pt>
    <dgm:pt modelId="{C95B29DA-5A99-4D58-8A6F-41318BEEFCF2}" type="sibTrans" cxnId="{87D13AAF-E096-4A15-9B06-E3F0674B098E}">
      <dgm:prSet/>
      <dgm:spPr/>
      <dgm:t>
        <a:bodyPr/>
        <a:lstStyle/>
        <a:p>
          <a:endParaRPr lang="en-US"/>
        </a:p>
      </dgm:t>
    </dgm:pt>
    <dgm:pt modelId="{1218E169-8353-4F9B-96BD-2F8A4D30E898}">
      <dgm:prSet custT="1"/>
      <dgm:spPr/>
      <dgm:t>
        <a:bodyPr/>
        <a:lstStyle/>
        <a:p>
          <a:r>
            <a:rPr lang="en-US" sz="1200"/>
            <a:t>Apache Spark 3.5.3 | 8GB driver memory, 4GB executor memory</a:t>
          </a:r>
        </a:p>
      </dgm:t>
    </dgm:pt>
    <dgm:pt modelId="{49544440-898D-4CF2-B026-31EF1A1FDB87}" type="parTrans" cxnId="{1F29CFE3-014B-4F8E-A1A2-F48F8E755327}">
      <dgm:prSet/>
      <dgm:spPr/>
      <dgm:t>
        <a:bodyPr/>
        <a:lstStyle/>
        <a:p>
          <a:endParaRPr lang="en-US"/>
        </a:p>
      </dgm:t>
    </dgm:pt>
    <dgm:pt modelId="{5C6745CF-33D3-486B-9FC9-1E9A85CF07B5}" type="sibTrans" cxnId="{1F29CFE3-014B-4F8E-A1A2-F48F8E755327}">
      <dgm:prSet/>
      <dgm:spPr/>
      <dgm:t>
        <a:bodyPr/>
        <a:lstStyle/>
        <a:p>
          <a:endParaRPr lang="en-US"/>
        </a:p>
      </dgm:t>
    </dgm:pt>
    <dgm:pt modelId="{E41718F8-60EF-4C8C-9960-820A33BE19BF}">
      <dgm:prSet custT="1"/>
      <dgm:spPr/>
      <dgm:t>
        <a:bodyPr/>
        <a:lstStyle/>
        <a:p>
          <a:r>
            <a:rPr lang="en-US" sz="1200"/>
            <a:t>Cloud NAT Gateway for secure Hugging Face API access</a:t>
          </a:r>
        </a:p>
      </dgm:t>
    </dgm:pt>
    <dgm:pt modelId="{6299E696-355D-4EF8-9528-9473BAF9D091}" type="parTrans" cxnId="{00D6D414-42CE-4175-9E5A-C52652FD16ED}">
      <dgm:prSet/>
      <dgm:spPr/>
      <dgm:t>
        <a:bodyPr/>
        <a:lstStyle/>
        <a:p>
          <a:endParaRPr lang="en-US"/>
        </a:p>
      </dgm:t>
    </dgm:pt>
    <dgm:pt modelId="{25924AB2-DF31-4F17-8D43-622A9C2B00E2}" type="sibTrans" cxnId="{00D6D414-42CE-4175-9E5A-C52652FD16ED}">
      <dgm:prSet/>
      <dgm:spPr/>
      <dgm:t>
        <a:bodyPr/>
        <a:lstStyle/>
        <a:p>
          <a:endParaRPr lang="en-US"/>
        </a:p>
      </dgm:t>
    </dgm:pt>
    <dgm:pt modelId="{BFBEF098-97D0-42E6-8EA4-2BF1C70CC50B}">
      <dgm:prSet custT="1"/>
      <dgm:spPr/>
      <dgm:t>
        <a:bodyPr/>
        <a:lstStyle/>
        <a:p>
          <a:r>
            <a:rPr lang="en-US" sz="1600" b="1"/>
            <a:t>Dataset</a:t>
          </a:r>
          <a:endParaRPr lang="en-US" sz="1600"/>
        </a:p>
      </dgm:t>
    </dgm:pt>
    <dgm:pt modelId="{ABB2B3F8-5EE1-4E88-99B5-B7F74687F5A9}" type="parTrans" cxnId="{EC60D601-824E-4077-AC76-F39EC9C7F1DB}">
      <dgm:prSet/>
      <dgm:spPr/>
      <dgm:t>
        <a:bodyPr/>
        <a:lstStyle/>
        <a:p>
          <a:endParaRPr lang="en-US"/>
        </a:p>
      </dgm:t>
    </dgm:pt>
    <dgm:pt modelId="{5308BAE5-13AC-43CA-A450-7B2CAED6F0E3}" type="sibTrans" cxnId="{EC60D601-824E-4077-AC76-F39EC9C7F1DB}">
      <dgm:prSet/>
      <dgm:spPr/>
      <dgm:t>
        <a:bodyPr/>
        <a:lstStyle/>
        <a:p>
          <a:endParaRPr lang="en-US"/>
        </a:p>
      </dgm:t>
    </dgm:pt>
    <dgm:pt modelId="{02DA26ED-385C-466F-B985-ABBE43CC5107}">
      <dgm:prSet custT="1"/>
      <dgm:spPr/>
      <dgm:t>
        <a:bodyPr/>
        <a:lstStyle/>
        <a:p>
          <a:r>
            <a:rPr lang="en-US" sz="1200" dirty="0"/>
            <a:t>Amazon Reviews 2023 — Grocery &amp; Gourmet Food</a:t>
          </a:r>
        </a:p>
      </dgm:t>
    </dgm:pt>
    <dgm:pt modelId="{2161EF05-DB0B-4D35-BEEB-69F0923B85B7}" type="parTrans" cxnId="{36DA0806-9192-4E12-A490-4660F59F1325}">
      <dgm:prSet/>
      <dgm:spPr/>
      <dgm:t>
        <a:bodyPr/>
        <a:lstStyle/>
        <a:p>
          <a:endParaRPr lang="en-US"/>
        </a:p>
      </dgm:t>
    </dgm:pt>
    <dgm:pt modelId="{0075359E-BDF1-4906-80D6-1C18FE153ABC}" type="sibTrans" cxnId="{36DA0806-9192-4E12-A490-4660F59F1325}">
      <dgm:prSet/>
      <dgm:spPr/>
      <dgm:t>
        <a:bodyPr/>
        <a:lstStyle/>
        <a:p>
          <a:endParaRPr lang="en-US"/>
        </a:p>
      </dgm:t>
    </dgm:pt>
    <dgm:pt modelId="{977CAB1A-CDBD-4113-AD7B-2E7B04142B80}">
      <dgm:prSet custT="1"/>
      <dgm:spPr/>
      <dgm:t>
        <a:bodyPr/>
        <a:lstStyle/>
        <a:p>
          <a:r>
            <a:rPr lang="en-US" sz="1200"/>
            <a:t>14.3 million total reviews, streamed via Hugging Face API</a:t>
          </a:r>
        </a:p>
      </dgm:t>
    </dgm:pt>
    <dgm:pt modelId="{0EF33ADD-2950-48A0-AD8B-A33933EE9148}" type="parTrans" cxnId="{E532579D-4191-497F-8D3B-06224A9CBFEA}">
      <dgm:prSet/>
      <dgm:spPr/>
      <dgm:t>
        <a:bodyPr/>
        <a:lstStyle/>
        <a:p>
          <a:endParaRPr lang="en-US"/>
        </a:p>
      </dgm:t>
    </dgm:pt>
    <dgm:pt modelId="{E4726542-D9A9-412E-86D0-AA98A7F64372}" type="sibTrans" cxnId="{E532579D-4191-497F-8D3B-06224A9CBFEA}">
      <dgm:prSet/>
      <dgm:spPr/>
      <dgm:t>
        <a:bodyPr/>
        <a:lstStyle/>
        <a:p>
          <a:endParaRPr lang="en-US"/>
        </a:p>
      </dgm:t>
    </dgm:pt>
    <dgm:pt modelId="{43F8F88B-B2BB-4D0C-BBCE-C231B31411E8}">
      <dgm:prSet custT="1"/>
      <dgm:spPr/>
      <dgm:t>
        <a:bodyPr/>
        <a:lstStyle/>
        <a:p>
          <a:r>
            <a:rPr lang="en-US" sz="1200"/>
            <a:t>Subsets tested: 50,000 | 100,000 | 250,000 records</a:t>
          </a:r>
        </a:p>
      </dgm:t>
    </dgm:pt>
    <dgm:pt modelId="{08BEB570-2374-4043-8A87-E76500840E1C}" type="parTrans" cxnId="{C188FF60-5042-436A-B5F3-73C6F230BD77}">
      <dgm:prSet/>
      <dgm:spPr/>
      <dgm:t>
        <a:bodyPr/>
        <a:lstStyle/>
        <a:p>
          <a:endParaRPr lang="en-US"/>
        </a:p>
      </dgm:t>
    </dgm:pt>
    <dgm:pt modelId="{2E8C167C-0880-40B2-8843-959FA464E0DE}" type="sibTrans" cxnId="{C188FF60-5042-436A-B5F3-73C6F230BD77}">
      <dgm:prSet/>
      <dgm:spPr/>
      <dgm:t>
        <a:bodyPr/>
        <a:lstStyle/>
        <a:p>
          <a:endParaRPr lang="en-US"/>
        </a:p>
      </dgm:t>
    </dgm:pt>
    <dgm:pt modelId="{BD7A3C81-654D-454D-9D9D-F4D6003777D2}">
      <dgm:prSet custT="1"/>
      <dgm:spPr/>
      <dgm:t>
        <a:bodyPr/>
        <a:lstStyle/>
        <a:p>
          <a:r>
            <a:rPr lang="en-US" sz="1200" dirty="0"/>
            <a:t>80% training / 20% validation split </a:t>
          </a:r>
        </a:p>
      </dgm:t>
    </dgm:pt>
    <dgm:pt modelId="{9FBA602E-10F2-493E-BDF3-732588191B6A}" type="parTrans" cxnId="{7A2F1CBC-5895-4467-8512-6ED95057600E}">
      <dgm:prSet/>
      <dgm:spPr/>
      <dgm:t>
        <a:bodyPr/>
        <a:lstStyle/>
        <a:p>
          <a:endParaRPr lang="en-US"/>
        </a:p>
      </dgm:t>
    </dgm:pt>
    <dgm:pt modelId="{A060348F-3DA1-47A7-A23A-BD2C91365559}" type="sibTrans" cxnId="{7A2F1CBC-5895-4467-8512-6ED95057600E}">
      <dgm:prSet/>
      <dgm:spPr/>
      <dgm:t>
        <a:bodyPr/>
        <a:lstStyle/>
        <a:p>
          <a:endParaRPr lang="en-US"/>
        </a:p>
      </dgm:t>
    </dgm:pt>
    <dgm:pt modelId="{E567DD3F-11A6-4B84-AD65-5E968E0D5B37}">
      <dgm:prSet custT="1"/>
      <dgm:spPr/>
      <dgm:t>
        <a:bodyPr/>
        <a:lstStyle/>
        <a:p>
          <a:r>
            <a:rPr lang="en-US" sz="1600" b="1"/>
            <a:t>Primary Model — Logistic Regression</a:t>
          </a:r>
          <a:endParaRPr lang="en-US" sz="1600"/>
        </a:p>
      </dgm:t>
    </dgm:pt>
    <dgm:pt modelId="{064D130F-CD9C-432B-AC2C-2F583479DE33}" type="parTrans" cxnId="{192BD56F-681F-46E2-B7E1-7F4A6B958F07}">
      <dgm:prSet/>
      <dgm:spPr/>
      <dgm:t>
        <a:bodyPr/>
        <a:lstStyle/>
        <a:p>
          <a:endParaRPr lang="en-US"/>
        </a:p>
      </dgm:t>
    </dgm:pt>
    <dgm:pt modelId="{835A40C9-F1A7-4583-9756-46B7CF513459}" type="sibTrans" cxnId="{192BD56F-681F-46E2-B7E1-7F4A6B958F07}">
      <dgm:prSet/>
      <dgm:spPr/>
      <dgm:t>
        <a:bodyPr/>
        <a:lstStyle/>
        <a:p>
          <a:endParaRPr lang="en-US"/>
        </a:p>
      </dgm:t>
    </dgm:pt>
    <dgm:pt modelId="{BC59A322-7F54-4EE1-A5E9-F8F213319B83}">
      <dgm:prSet custT="1"/>
      <dgm:spPr/>
      <dgm:t>
        <a:bodyPr/>
        <a:lstStyle/>
        <a:p>
          <a:r>
            <a:rPr lang="en-US" sz="1200" dirty="0" err="1"/>
            <a:t>HashingTF</a:t>
          </a:r>
          <a:r>
            <a:rPr lang="en-US" sz="1200" dirty="0"/>
            <a:t>: 10,000 features</a:t>
          </a:r>
        </a:p>
      </dgm:t>
    </dgm:pt>
    <dgm:pt modelId="{C9C3F93E-8799-49ED-9404-9BF987418BCD}" type="parTrans" cxnId="{0E909DCB-4DCE-465D-857F-2862EB26741A}">
      <dgm:prSet/>
      <dgm:spPr/>
      <dgm:t>
        <a:bodyPr/>
        <a:lstStyle/>
        <a:p>
          <a:endParaRPr lang="en-US"/>
        </a:p>
      </dgm:t>
    </dgm:pt>
    <dgm:pt modelId="{03F53432-1C42-4730-ADCE-95FAFF0D30F0}" type="sibTrans" cxnId="{0E909DCB-4DCE-465D-857F-2862EB26741A}">
      <dgm:prSet/>
      <dgm:spPr/>
      <dgm:t>
        <a:bodyPr/>
        <a:lstStyle/>
        <a:p>
          <a:endParaRPr lang="en-US"/>
        </a:p>
      </dgm:t>
    </dgm:pt>
    <dgm:pt modelId="{15553227-3B95-4358-B562-7F7B689D9C34}">
      <dgm:prSet custT="1"/>
      <dgm:spPr/>
      <dgm:t>
        <a:bodyPr/>
        <a:lstStyle/>
        <a:p>
          <a:r>
            <a:rPr lang="en-US" sz="1200" dirty="0"/>
            <a:t>Max iterations: 10</a:t>
          </a:r>
        </a:p>
      </dgm:t>
    </dgm:pt>
    <dgm:pt modelId="{A0357DB7-E236-439F-B29C-ED4C07B6A340}" type="parTrans" cxnId="{3D36C5CA-52E6-454C-AACE-29ED3D03205A}">
      <dgm:prSet/>
      <dgm:spPr/>
      <dgm:t>
        <a:bodyPr/>
        <a:lstStyle/>
        <a:p>
          <a:endParaRPr lang="en-US"/>
        </a:p>
      </dgm:t>
    </dgm:pt>
    <dgm:pt modelId="{084C4752-18E9-406F-988E-907A697284A3}" type="sibTrans" cxnId="{3D36C5CA-52E6-454C-AACE-29ED3D03205A}">
      <dgm:prSet/>
      <dgm:spPr/>
      <dgm:t>
        <a:bodyPr/>
        <a:lstStyle/>
        <a:p>
          <a:endParaRPr lang="en-US"/>
        </a:p>
      </dgm:t>
    </dgm:pt>
    <dgm:pt modelId="{96384A8F-AA4B-4855-917F-B45913C476E8}">
      <dgm:prSet custT="1"/>
      <dgm:spPr/>
      <dgm:t>
        <a:bodyPr/>
        <a:lstStyle/>
        <a:p>
          <a:r>
            <a:rPr lang="en-US" sz="1600" b="1" dirty="0"/>
            <a:t>Baseline Model — Naïve Bayes</a:t>
          </a:r>
          <a:endParaRPr lang="en-US" sz="1600" dirty="0"/>
        </a:p>
      </dgm:t>
    </dgm:pt>
    <dgm:pt modelId="{851B0D24-BAF8-4A3D-B2F7-5C4A3C516586}" type="parTrans" cxnId="{CB448D21-EBE3-44F8-A0E5-8EB7030781E8}">
      <dgm:prSet/>
      <dgm:spPr/>
      <dgm:t>
        <a:bodyPr/>
        <a:lstStyle/>
        <a:p>
          <a:endParaRPr lang="en-US"/>
        </a:p>
      </dgm:t>
    </dgm:pt>
    <dgm:pt modelId="{1224D369-4C3E-4042-B1D8-9EB3A2245887}" type="sibTrans" cxnId="{CB448D21-EBE3-44F8-A0E5-8EB7030781E8}">
      <dgm:prSet/>
      <dgm:spPr/>
      <dgm:t>
        <a:bodyPr/>
        <a:lstStyle/>
        <a:p>
          <a:endParaRPr lang="en-US"/>
        </a:p>
      </dgm:t>
    </dgm:pt>
    <dgm:pt modelId="{5B392601-5D9B-47B3-A2CB-A4FA5BD383C2}">
      <dgm:prSet custT="1"/>
      <dgm:spPr/>
      <dgm:t>
        <a:bodyPr/>
        <a:lstStyle/>
        <a:p>
          <a:r>
            <a:rPr lang="en-US" sz="1200" dirty="0"/>
            <a:t>Identical TF-IDF pipeline</a:t>
          </a:r>
        </a:p>
      </dgm:t>
    </dgm:pt>
    <dgm:pt modelId="{1D04658C-55CC-4F94-8E58-07FA75814DDD}" type="parTrans" cxnId="{12DB9F77-8029-47E9-9DF5-B01B603C217F}">
      <dgm:prSet/>
      <dgm:spPr/>
      <dgm:t>
        <a:bodyPr/>
        <a:lstStyle/>
        <a:p>
          <a:endParaRPr lang="en-US"/>
        </a:p>
      </dgm:t>
    </dgm:pt>
    <dgm:pt modelId="{43B4219F-42B4-4F36-A270-54D44D275DB4}" type="sibTrans" cxnId="{12DB9F77-8029-47E9-9DF5-B01B603C217F}">
      <dgm:prSet/>
      <dgm:spPr/>
      <dgm:t>
        <a:bodyPr/>
        <a:lstStyle/>
        <a:p>
          <a:endParaRPr lang="en-US"/>
        </a:p>
      </dgm:t>
    </dgm:pt>
    <dgm:pt modelId="{E8A0677D-3ECA-418C-98E8-79BD4BD4F344}">
      <dgm:prSet custT="1"/>
      <dgm:spPr/>
      <dgm:t>
        <a:bodyPr/>
        <a:lstStyle/>
        <a:p>
          <a:r>
            <a:rPr lang="en-US" sz="1200" dirty="0"/>
            <a:t>Laplace smoothing: 1.0</a:t>
          </a:r>
        </a:p>
      </dgm:t>
    </dgm:pt>
    <dgm:pt modelId="{35B285A6-BEA4-4A4C-97E0-1F3B49BD2C12}" type="parTrans" cxnId="{1E723C6A-DD54-4011-AF3B-CB8CF22CAF24}">
      <dgm:prSet/>
      <dgm:spPr/>
      <dgm:t>
        <a:bodyPr/>
        <a:lstStyle/>
        <a:p>
          <a:endParaRPr lang="en-US"/>
        </a:p>
      </dgm:t>
    </dgm:pt>
    <dgm:pt modelId="{BD46BE51-FD49-478D-BC5D-BF77A27E8CBE}" type="sibTrans" cxnId="{1E723C6A-DD54-4011-AF3B-CB8CF22CAF24}">
      <dgm:prSet/>
      <dgm:spPr/>
      <dgm:t>
        <a:bodyPr/>
        <a:lstStyle/>
        <a:p>
          <a:endParaRPr lang="en-US"/>
        </a:p>
      </dgm:t>
    </dgm:pt>
    <dgm:pt modelId="{4A5DBD4E-C3FC-4B65-8A02-B70DC6D992CA}">
      <dgm:prSet custT="1"/>
      <dgm:spPr/>
      <dgm:t>
        <a:bodyPr/>
        <a:lstStyle/>
        <a:p>
          <a:r>
            <a:rPr lang="en-US" sz="1200"/>
            <a:t>Regularization: 0.01</a:t>
          </a:r>
          <a:endParaRPr lang="en-US" sz="1200" dirty="0"/>
        </a:p>
      </dgm:t>
    </dgm:pt>
    <dgm:pt modelId="{1435AF73-741E-4F06-B107-13745A892DAD}" type="parTrans" cxnId="{AD967D9F-A8B1-48B2-9908-8B0017B84D86}">
      <dgm:prSet/>
      <dgm:spPr/>
      <dgm:t>
        <a:bodyPr/>
        <a:lstStyle/>
        <a:p>
          <a:endParaRPr lang="en-US"/>
        </a:p>
      </dgm:t>
    </dgm:pt>
    <dgm:pt modelId="{77694116-6C0E-40F5-8BFB-AFDBFC784D1D}" type="sibTrans" cxnId="{AD967D9F-A8B1-48B2-9908-8B0017B84D86}">
      <dgm:prSet/>
      <dgm:spPr/>
      <dgm:t>
        <a:bodyPr/>
        <a:lstStyle/>
        <a:p>
          <a:endParaRPr lang="en-US"/>
        </a:p>
      </dgm:t>
    </dgm:pt>
    <dgm:pt modelId="{AF1274B1-EF12-4E2B-B039-7B57E54B74C7}" type="pres">
      <dgm:prSet presAssocID="{4F4A2CE7-A80D-4C44-AC55-542E1C043CA8}" presName="Name0" presStyleCnt="0">
        <dgm:presLayoutVars>
          <dgm:dir/>
          <dgm:animLvl val="lvl"/>
          <dgm:resizeHandles val="exact"/>
        </dgm:presLayoutVars>
      </dgm:prSet>
      <dgm:spPr/>
    </dgm:pt>
    <dgm:pt modelId="{8D320E40-A7CC-4BA6-9951-E3D926089708}" type="pres">
      <dgm:prSet presAssocID="{8771106D-CCA1-48A9-ADEA-29B8451A1786}" presName="composite" presStyleCnt="0"/>
      <dgm:spPr/>
    </dgm:pt>
    <dgm:pt modelId="{9E32A802-64F1-4826-88FC-E89D11398B7F}" type="pres">
      <dgm:prSet presAssocID="{8771106D-CCA1-48A9-ADEA-29B8451A1786}" presName="parTx" presStyleLbl="alignNode1" presStyleIdx="0" presStyleCnt="4">
        <dgm:presLayoutVars>
          <dgm:chMax val="0"/>
          <dgm:chPref val="0"/>
        </dgm:presLayoutVars>
      </dgm:prSet>
      <dgm:spPr/>
    </dgm:pt>
    <dgm:pt modelId="{5FF8B77A-2038-465E-A36D-B80CFC97A704}" type="pres">
      <dgm:prSet presAssocID="{8771106D-CCA1-48A9-ADEA-29B8451A1786}" presName="desTx" presStyleLbl="alignAccFollowNode1" presStyleIdx="0" presStyleCnt="4">
        <dgm:presLayoutVars/>
      </dgm:prSet>
      <dgm:spPr/>
    </dgm:pt>
    <dgm:pt modelId="{5990B585-2A1F-438E-8C57-0EF16C7A4C7A}" type="pres">
      <dgm:prSet presAssocID="{AFD43A12-9E58-457E-A008-0A358BDDE687}" presName="space" presStyleCnt="0"/>
      <dgm:spPr/>
    </dgm:pt>
    <dgm:pt modelId="{E04D7E24-7110-47FB-9508-5208694782D2}" type="pres">
      <dgm:prSet presAssocID="{BFBEF098-97D0-42E6-8EA4-2BF1C70CC50B}" presName="composite" presStyleCnt="0"/>
      <dgm:spPr/>
    </dgm:pt>
    <dgm:pt modelId="{EE53813E-0D69-4D37-9A22-87BA3723B08E}" type="pres">
      <dgm:prSet presAssocID="{BFBEF098-97D0-42E6-8EA4-2BF1C70CC50B}" presName="parTx" presStyleLbl="alignNode1" presStyleIdx="1" presStyleCnt="4">
        <dgm:presLayoutVars>
          <dgm:chMax val="0"/>
          <dgm:chPref val="0"/>
        </dgm:presLayoutVars>
      </dgm:prSet>
      <dgm:spPr/>
    </dgm:pt>
    <dgm:pt modelId="{069A1BEA-A550-4FB3-884B-874E1F926B24}" type="pres">
      <dgm:prSet presAssocID="{BFBEF098-97D0-42E6-8EA4-2BF1C70CC50B}" presName="desTx" presStyleLbl="alignAccFollowNode1" presStyleIdx="1" presStyleCnt="4">
        <dgm:presLayoutVars/>
      </dgm:prSet>
      <dgm:spPr/>
    </dgm:pt>
    <dgm:pt modelId="{75063554-78AD-4A4E-B1A2-6D1C5C338FBB}" type="pres">
      <dgm:prSet presAssocID="{5308BAE5-13AC-43CA-A450-7B2CAED6F0E3}" presName="space" presStyleCnt="0"/>
      <dgm:spPr/>
    </dgm:pt>
    <dgm:pt modelId="{84F5CFEB-8EF3-4372-B379-A3E3A3A7C868}" type="pres">
      <dgm:prSet presAssocID="{E567DD3F-11A6-4B84-AD65-5E968E0D5B37}" presName="composite" presStyleCnt="0"/>
      <dgm:spPr/>
    </dgm:pt>
    <dgm:pt modelId="{2469E5E3-6332-4246-B54D-ABC7F8700BB2}" type="pres">
      <dgm:prSet presAssocID="{E567DD3F-11A6-4B84-AD65-5E968E0D5B37}" presName="parTx" presStyleLbl="alignNode1" presStyleIdx="2" presStyleCnt="4">
        <dgm:presLayoutVars>
          <dgm:chMax val="0"/>
          <dgm:chPref val="0"/>
        </dgm:presLayoutVars>
      </dgm:prSet>
      <dgm:spPr/>
    </dgm:pt>
    <dgm:pt modelId="{BE556291-9A9F-48E1-91AF-7FB09294348B}" type="pres">
      <dgm:prSet presAssocID="{E567DD3F-11A6-4B84-AD65-5E968E0D5B37}" presName="desTx" presStyleLbl="alignAccFollowNode1" presStyleIdx="2" presStyleCnt="4">
        <dgm:presLayoutVars/>
      </dgm:prSet>
      <dgm:spPr/>
    </dgm:pt>
    <dgm:pt modelId="{6F976E0D-0BB1-46ED-9A0E-7B6F8AC30070}" type="pres">
      <dgm:prSet presAssocID="{835A40C9-F1A7-4583-9756-46B7CF513459}" presName="space" presStyleCnt="0"/>
      <dgm:spPr/>
    </dgm:pt>
    <dgm:pt modelId="{76432AEF-6402-42AA-B412-AEA303C75EEF}" type="pres">
      <dgm:prSet presAssocID="{96384A8F-AA4B-4855-917F-B45913C476E8}" presName="composite" presStyleCnt="0"/>
      <dgm:spPr/>
    </dgm:pt>
    <dgm:pt modelId="{954F3F5F-8699-4766-AAEA-4165EB8728DE}" type="pres">
      <dgm:prSet presAssocID="{96384A8F-AA4B-4855-917F-B45913C476E8}" presName="parTx" presStyleLbl="alignNode1" presStyleIdx="3" presStyleCnt="4">
        <dgm:presLayoutVars>
          <dgm:chMax val="0"/>
          <dgm:chPref val="0"/>
        </dgm:presLayoutVars>
      </dgm:prSet>
      <dgm:spPr/>
    </dgm:pt>
    <dgm:pt modelId="{F103D44F-E778-418C-A7BD-26EFFB33402B}" type="pres">
      <dgm:prSet presAssocID="{96384A8F-AA4B-4855-917F-B45913C476E8}" presName="desTx" presStyleLbl="alignAccFollowNode1" presStyleIdx="3" presStyleCnt="4">
        <dgm:presLayoutVars/>
      </dgm:prSet>
      <dgm:spPr/>
    </dgm:pt>
  </dgm:ptLst>
  <dgm:cxnLst>
    <dgm:cxn modelId="{EC60D601-824E-4077-AC76-F39EC9C7F1DB}" srcId="{4F4A2CE7-A80D-4C44-AC55-542E1C043CA8}" destId="{BFBEF098-97D0-42E6-8EA4-2BF1C70CC50B}" srcOrd="1" destOrd="0" parTransId="{ABB2B3F8-5EE1-4E88-99B5-B7F74687F5A9}" sibTransId="{5308BAE5-13AC-43CA-A450-7B2CAED6F0E3}"/>
    <dgm:cxn modelId="{36DA0806-9192-4E12-A490-4660F59F1325}" srcId="{BFBEF098-97D0-42E6-8EA4-2BF1C70CC50B}" destId="{02DA26ED-385C-466F-B985-ABBE43CC5107}" srcOrd="0" destOrd="0" parTransId="{2161EF05-DB0B-4D35-BEEB-69F0923B85B7}" sibTransId="{0075359E-BDF1-4906-80D6-1C18FE153ABC}"/>
    <dgm:cxn modelId="{CE70AE11-F0D9-4142-8675-CB2894C14580}" type="presOf" srcId="{43F8F88B-B2BB-4D0C-BBCE-C231B31411E8}" destId="{069A1BEA-A550-4FB3-884B-874E1F926B24}" srcOrd="0" destOrd="2" presId="urn:microsoft.com/office/officeart/2016/7/layout/HorizontalActionList"/>
    <dgm:cxn modelId="{00D6D414-42CE-4175-9E5A-C52652FD16ED}" srcId="{8771106D-CCA1-48A9-ADEA-29B8451A1786}" destId="{E41718F8-60EF-4C8C-9960-820A33BE19BF}" srcOrd="3" destOrd="0" parTransId="{6299E696-355D-4EF8-9528-9473BAF9D091}" sibTransId="{25924AB2-DF31-4F17-8D43-622A9C2B00E2}"/>
    <dgm:cxn modelId="{E5E0A117-9AFC-4E02-804D-759DDDB274B0}" type="presOf" srcId="{E41718F8-60EF-4C8C-9960-820A33BE19BF}" destId="{5FF8B77A-2038-465E-A36D-B80CFC97A704}" srcOrd="0" destOrd="3" presId="urn:microsoft.com/office/officeart/2016/7/layout/HorizontalActionList"/>
    <dgm:cxn modelId="{CB448D21-EBE3-44F8-A0E5-8EB7030781E8}" srcId="{4F4A2CE7-A80D-4C44-AC55-542E1C043CA8}" destId="{96384A8F-AA4B-4855-917F-B45913C476E8}" srcOrd="3" destOrd="0" parTransId="{851B0D24-BAF8-4A3D-B2F7-5C4A3C516586}" sibTransId="{1224D369-4C3E-4042-B1D8-9EB3A2245887}"/>
    <dgm:cxn modelId="{AAD5232B-FE1F-433B-B9C5-CF0EBBCC7F36}" type="presOf" srcId="{1218E169-8353-4F9B-96BD-2F8A4D30E898}" destId="{5FF8B77A-2038-465E-A36D-B80CFC97A704}" srcOrd="0" destOrd="2" presId="urn:microsoft.com/office/officeart/2016/7/layout/HorizontalActionList"/>
    <dgm:cxn modelId="{3BD1662E-386E-4D68-A7CC-05F5FA02B0D3}" srcId="{4F4A2CE7-A80D-4C44-AC55-542E1C043CA8}" destId="{8771106D-CCA1-48A9-ADEA-29B8451A1786}" srcOrd="0" destOrd="0" parTransId="{EF0799E5-6D16-4781-BCD0-5E2C0AEDA5C0}" sibTransId="{AFD43A12-9E58-457E-A008-0A358BDDE687}"/>
    <dgm:cxn modelId="{C188FF60-5042-436A-B5F3-73C6F230BD77}" srcId="{BFBEF098-97D0-42E6-8EA4-2BF1C70CC50B}" destId="{43F8F88B-B2BB-4D0C-BBCE-C231B31411E8}" srcOrd="2" destOrd="0" parTransId="{08BEB570-2374-4043-8A87-E76500840E1C}" sibTransId="{2E8C167C-0880-40B2-8843-959FA464E0DE}"/>
    <dgm:cxn modelId="{55BA5363-5A8D-4382-8A8D-67845B9DAB8F}" type="presOf" srcId="{8771106D-CCA1-48A9-ADEA-29B8451A1786}" destId="{9E32A802-64F1-4826-88FC-E89D11398B7F}" srcOrd="0" destOrd="0" presId="urn:microsoft.com/office/officeart/2016/7/layout/HorizontalActionList"/>
    <dgm:cxn modelId="{FC1CBD66-CA8D-407F-939E-C35911649775}" type="presOf" srcId="{4F4A2CE7-A80D-4C44-AC55-542E1C043CA8}" destId="{AF1274B1-EF12-4E2B-B039-7B57E54B74C7}" srcOrd="0" destOrd="0" presId="urn:microsoft.com/office/officeart/2016/7/layout/HorizontalActionList"/>
    <dgm:cxn modelId="{1E723C6A-DD54-4011-AF3B-CB8CF22CAF24}" srcId="{96384A8F-AA4B-4855-917F-B45913C476E8}" destId="{E8A0677D-3ECA-418C-98E8-79BD4BD4F344}" srcOrd="1" destOrd="0" parTransId="{35B285A6-BEA4-4A4C-97E0-1F3B49BD2C12}" sibTransId="{BD46BE51-FD49-478D-BC5D-BF77A27E8CBE}"/>
    <dgm:cxn modelId="{61D76E6C-F780-47B6-B820-716FDA9A26B0}" type="presOf" srcId="{E567DD3F-11A6-4B84-AD65-5E968E0D5B37}" destId="{2469E5E3-6332-4246-B54D-ABC7F8700BB2}" srcOrd="0" destOrd="0" presId="urn:microsoft.com/office/officeart/2016/7/layout/HorizontalActionList"/>
    <dgm:cxn modelId="{192BD56F-681F-46E2-B7E1-7F4A6B958F07}" srcId="{4F4A2CE7-A80D-4C44-AC55-542E1C043CA8}" destId="{E567DD3F-11A6-4B84-AD65-5E968E0D5B37}" srcOrd="2" destOrd="0" parTransId="{064D130F-CD9C-432B-AC2C-2F583479DE33}" sibTransId="{835A40C9-F1A7-4583-9756-46B7CF513459}"/>
    <dgm:cxn modelId="{12DB9F77-8029-47E9-9DF5-B01B603C217F}" srcId="{96384A8F-AA4B-4855-917F-B45913C476E8}" destId="{5B392601-5D9B-47B3-A2CB-A4FA5BD383C2}" srcOrd="0" destOrd="0" parTransId="{1D04658C-55CC-4F94-8E58-07FA75814DDD}" sibTransId="{43B4219F-42B4-4F36-A270-54D44D275DB4}"/>
    <dgm:cxn modelId="{41D25A5A-33B8-41D1-B50E-748894F93049}" type="presOf" srcId="{96384A8F-AA4B-4855-917F-B45913C476E8}" destId="{954F3F5F-8699-4766-AAEA-4165EB8728DE}" srcOrd="0" destOrd="0" presId="urn:microsoft.com/office/officeart/2016/7/layout/HorizontalActionList"/>
    <dgm:cxn modelId="{C9D71180-3D1E-4885-9F1A-2D29B5127629}" srcId="{8771106D-CCA1-48A9-ADEA-29B8451A1786}" destId="{D68DB147-F442-45DD-BCAF-6027ED984B1F}" srcOrd="0" destOrd="0" parTransId="{9BB0D5B7-4B8E-4B9E-B1B5-E213F52553B0}" sibTransId="{25BAC7E7-9544-446F-9BC9-F2F722BBCAF1}"/>
    <dgm:cxn modelId="{3EAD7680-2E11-4E49-9C3A-2B58A5736469}" type="presOf" srcId="{BFBEF098-97D0-42E6-8EA4-2BF1C70CC50B}" destId="{EE53813E-0D69-4D37-9A22-87BA3723B08E}" srcOrd="0" destOrd="0" presId="urn:microsoft.com/office/officeart/2016/7/layout/HorizontalActionList"/>
    <dgm:cxn modelId="{9756D78A-03E3-4CC4-8D0D-7F8BE8FC9AEC}" type="presOf" srcId="{E8A0677D-3ECA-418C-98E8-79BD4BD4F344}" destId="{F103D44F-E778-418C-A7BD-26EFFB33402B}" srcOrd="0" destOrd="1" presId="urn:microsoft.com/office/officeart/2016/7/layout/HorizontalActionList"/>
    <dgm:cxn modelId="{5C7C4293-8A5E-4AB1-B910-1240F7497226}" type="presOf" srcId="{BC59A322-7F54-4EE1-A5E9-F8F213319B83}" destId="{BE556291-9A9F-48E1-91AF-7FB09294348B}" srcOrd="0" destOrd="0" presId="urn:microsoft.com/office/officeart/2016/7/layout/HorizontalActionList"/>
    <dgm:cxn modelId="{F70B1A9B-D597-4ADA-9EAB-A398845960C0}" type="presOf" srcId="{D68DB147-F442-45DD-BCAF-6027ED984B1F}" destId="{5FF8B77A-2038-465E-A36D-B80CFC97A704}" srcOrd="0" destOrd="0" presId="urn:microsoft.com/office/officeart/2016/7/layout/HorizontalActionList"/>
    <dgm:cxn modelId="{AACB239B-79D3-4937-AC73-AAA5DAAE2620}" type="presOf" srcId="{02DA26ED-385C-466F-B985-ABBE43CC5107}" destId="{069A1BEA-A550-4FB3-884B-874E1F926B24}" srcOrd="0" destOrd="0" presId="urn:microsoft.com/office/officeart/2016/7/layout/HorizontalActionList"/>
    <dgm:cxn modelId="{E30B4E9C-7C45-4BEF-BAFD-F88494560897}" type="presOf" srcId="{4A5DBD4E-C3FC-4B65-8A02-B70DC6D992CA}" destId="{BE556291-9A9F-48E1-91AF-7FB09294348B}" srcOrd="0" destOrd="2" presId="urn:microsoft.com/office/officeart/2016/7/layout/HorizontalActionList"/>
    <dgm:cxn modelId="{E532579D-4191-497F-8D3B-06224A9CBFEA}" srcId="{BFBEF098-97D0-42E6-8EA4-2BF1C70CC50B}" destId="{977CAB1A-CDBD-4113-AD7B-2E7B04142B80}" srcOrd="1" destOrd="0" parTransId="{0EF33ADD-2950-48A0-AD8B-A33933EE9148}" sibTransId="{E4726542-D9A9-412E-86D0-AA98A7F64372}"/>
    <dgm:cxn modelId="{AD967D9F-A8B1-48B2-9908-8B0017B84D86}" srcId="{E567DD3F-11A6-4B84-AD65-5E968E0D5B37}" destId="{4A5DBD4E-C3FC-4B65-8A02-B70DC6D992CA}" srcOrd="2" destOrd="0" parTransId="{1435AF73-741E-4F06-B107-13745A892DAD}" sibTransId="{77694116-6C0E-40F5-8BFB-AFDBFC784D1D}"/>
    <dgm:cxn modelId="{6983A1AC-96CF-4096-87E5-8D1627A368D7}" type="presOf" srcId="{15553227-3B95-4358-B562-7F7B689D9C34}" destId="{BE556291-9A9F-48E1-91AF-7FB09294348B}" srcOrd="0" destOrd="1" presId="urn:microsoft.com/office/officeart/2016/7/layout/HorizontalActionList"/>
    <dgm:cxn modelId="{87D13AAF-E096-4A15-9B06-E3F0674B098E}" srcId="{8771106D-CCA1-48A9-ADEA-29B8451A1786}" destId="{364E865A-86F1-43F1-8B1A-21BFA568469F}" srcOrd="1" destOrd="0" parTransId="{D9154687-F6EC-4429-8B94-6329FDF28AA6}" sibTransId="{C95B29DA-5A99-4D58-8A6F-41318BEEFCF2}"/>
    <dgm:cxn modelId="{7A2F1CBC-5895-4467-8512-6ED95057600E}" srcId="{BFBEF098-97D0-42E6-8EA4-2BF1C70CC50B}" destId="{BD7A3C81-654D-454D-9D9D-F4D6003777D2}" srcOrd="3" destOrd="0" parTransId="{9FBA602E-10F2-493E-BDF3-732588191B6A}" sibTransId="{A060348F-3DA1-47A7-A23A-BD2C91365559}"/>
    <dgm:cxn modelId="{3D36C5CA-52E6-454C-AACE-29ED3D03205A}" srcId="{E567DD3F-11A6-4B84-AD65-5E968E0D5B37}" destId="{15553227-3B95-4358-B562-7F7B689D9C34}" srcOrd="1" destOrd="0" parTransId="{A0357DB7-E236-439F-B29C-ED4C07B6A340}" sibTransId="{084C4752-18E9-406F-988E-907A697284A3}"/>
    <dgm:cxn modelId="{D933D5CA-5D4E-4DF1-A693-DE2B17AB91A6}" type="presOf" srcId="{BD7A3C81-654D-454D-9D9D-F4D6003777D2}" destId="{069A1BEA-A550-4FB3-884B-874E1F926B24}" srcOrd="0" destOrd="3" presId="urn:microsoft.com/office/officeart/2016/7/layout/HorizontalActionList"/>
    <dgm:cxn modelId="{0E909DCB-4DCE-465D-857F-2862EB26741A}" srcId="{E567DD3F-11A6-4B84-AD65-5E968E0D5B37}" destId="{BC59A322-7F54-4EE1-A5E9-F8F213319B83}" srcOrd="0" destOrd="0" parTransId="{C9C3F93E-8799-49ED-9404-9BF987418BCD}" sibTransId="{03F53432-1C42-4730-ADCE-95FAFF0D30F0}"/>
    <dgm:cxn modelId="{1F29CFE3-014B-4F8E-A1A2-F48F8E755327}" srcId="{8771106D-CCA1-48A9-ADEA-29B8451A1786}" destId="{1218E169-8353-4F9B-96BD-2F8A4D30E898}" srcOrd="2" destOrd="0" parTransId="{49544440-898D-4CF2-B026-31EF1A1FDB87}" sibTransId="{5C6745CF-33D3-486B-9FC9-1E9A85CF07B5}"/>
    <dgm:cxn modelId="{9E920FE7-14E1-4772-90A0-682958C8705C}" type="presOf" srcId="{5B392601-5D9B-47B3-A2CB-A4FA5BD383C2}" destId="{F103D44F-E778-418C-A7BD-26EFFB33402B}" srcOrd="0" destOrd="0" presId="urn:microsoft.com/office/officeart/2016/7/layout/HorizontalActionList"/>
    <dgm:cxn modelId="{6FC576E7-E53E-420A-AAAC-47DC1866D26E}" type="presOf" srcId="{364E865A-86F1-43F1-8B1A-21BFA568469F}" destId="{5FF8B77A-2038-465E-A36D-B80CFC97A704}" srcOrd="0" destOrd="1" presId="urn:microsoft.com/office/officeart/2016/7/layout/HorizontalActionList"/>
    <dgm:cxn modelId="{89DEA8EF-47AC-4A04-99FC-1914256B5EFB}" type="presOf" srcId="{977CAB1A-CDBD-4113-AD7B-2E7B04142B80}" destId="{069A1BEA-A550-4FB3-884B-874E1F926B24}" srcOrd="0" destOrd="1" presId="urn:microsoft.com/office/officeart/2016/7/layout/HorizontalActionList"/>
    <dgm:cxn modelId="{F086D1D3-9157-4BE6-A981-6EB3C7183445}" type="presParOf" srcId="{AF1274B1-EF12-4E2B-B039-7B57E54B74C7}" destId="{8D320E40-A7CC-4BA6-9951-E3D926089708}" srcOrd="0" destOrd="0" presId="urn:microsoft.com/office/officeart/2016/7/layout/HorizontalActionList"/>
    <dgm:cxn modelId="{3878ECEE-CE45-446E-BB96-C6F2D05D192B}" type="presParOf" srcId="{8D320E40-A7CC-4BA6-9951-E3D926089708}" destId="{9E32A802-64F1-4826-88FC-E89D11398B7F}" srcOrd="0" destOrd="0" presId="urn:microsoft.com/office/officeart/2016/7/layout/HorizontalActionList"/>
    <dgm:cxn modelId="{E209161F-A25E-4EA1-9701-8EA01E9C352D}" type="presParOf" srcId="{8D320E40-A7CC-4BA6-9951-E3D926089708}" destId="{5FF8B77A-2038-465E-A36D-B80CFC97A704}" srcOrd="1" destOrd="0" presId="urn:microsoft.com/office/officeart/2016/7/layout/HorizontalActionList"/>
    <dgm:cxn modelId="{FD2A0037-5BB4-49D6-A7A9-7AC336D54A5D}" type="presParOf" srcId="{AF1274B1-EF12-4E2B-B039-7B57E54B74C7}" destId="{5990B585-2A1F-438E-8C57-0EF16C7A4C7A}" srcOrd="1" destOrd="0" presId="urn:microsoft.com/office/officeart/2016/7/layout/HorizontalActionList"/>
    <dgm:cxn modelId="{54410B94-F7F6-47A1-AAC3-9F68C0ABA675}" type="presParOf" srcId="{AF1274B1-EF12-4E2B-B039-7B57E54B74C7}" destId="{E04D7E24-7110-47FB-9508-5208694782D2}" srcOrd="2" destOrd="0" presId="urn:microsoft.com/office/officeart/2016/7/layout/HorizontalActionList"/>
    <dgm:cxn modelId="{9B5FD194-FD62-4746-B1E3-9031E83442C5}" type="presParOf" srcId="{E04D7E24-7110-47FB-9508-5208694782D2}" destId="{EE53813E-0D69-4D37-9A22-87BA3723B08E}" srcOrd="0" destOrd="0" presId="urn:microsoft.com/office/officeart/2016/7/layout/HorizontalActionList"/>
    <dgm:cxn modelId="{D8643BE4-7B08-4FD5-8A93-29E5BC55A114}" type="presParOf" srcId="{E04D7E24-7110-47FB-9508-5208694782D2}" destId="{069A1BEA-A550-4FB3-884B-874E1F926B24}" srcOrd="1" destOrd="0" presId="urn:microsoft.com/office/officeart/2016/7/layout/HorizontalActionList"/>
    <dgm:cxn modelId="{D53D5072-994E-4016-85B9-3C1C723D0C2D}" type="presParOf" srcId="{AF1274B1-EF12-4E2B-B039-7B57E54B74C7}" destId="{75063554-78AD-4A4E-B1A2-6D1C5C338FBB}" srcOrd="3" destOrd="0" presId="urn:microsoft.com/office/officeart/2016/7/layout/HorizontalActionList"/>
    <dgm:cxn modelId="{6FA1A85E-21B2-487D-8FD7-D96BC1252EC0}" type="presParOf" srcId="{AF1274B1-EF12-4E2B-B039-7B57E54B74C7}" destId="{84F5CFEB-8EF3-4372-B379-A3E3A3A7C868}" srcOrd="4" destOrd="0" presId="urn:microsoft.com/office/officeart/2016/7/layout/HorizontalActionList"/>
    <dgm:cxn modelId="{B285451E-B0E8-4771-B094-7A6F630580A3}" type="presParOf" srcId="{84F5CFEB-8EF3-4372-B379-A3E3A3A7C868}" destId="{2469E5E3-6332-4246-B54D-ABC7F8700BB2}" srcOrd="0" destOrd="0" presId="urn:microsoft.com/office/officeart/2016/7/layout/HorizontalActionList"/>
    <dgm:cxn modelId="{A9F3E17A-F8BC-4051-AB01-89A38A4B1C79}" type="presParOf" srcId="{84F5CFEB-8EF3-4372-B379-A3E3A3A7C868}" destId="{BE556291-9A9F-48E1-91AF-7FB09294348B}" srcOrd="1" destOrd="0" presId="urn:microsoft.com/office/officeart/2016/7/layout/HorizontalActionList"/>
    <dgm:cxn modelId="{0754E7D8-B708-4E0E-B80A-07934E024247}" type="presParOf" srcId="{AF1274B1-EF12-4E2B-B039-7B57E54B74C7}" destId="{6F976E0D-0BB1-46ED-9A0E-7B6F8AC30070}" srcOrd="5" destOrd="0" presId="urn:microsoft.com/office/officeart/2016/7/layout/HorizontalActionList"/>
    <dgm:cxn modelId="{FBF43746-9958-4200-9E57-ADC52440AB89}" type="presParOf" srcId="{AF1274B1-EF12-4E2B-B039-7B57E54B74C7}" destId="{76432AEF-6402-42AA-B412-AEA303C75EEF}" srcOrd="6" destOrd="0" presId="urn:microsoft.com/office/officeart/2016/7/layout/HorizontalActionList"/>
    <dgm:cxn modelId="{E10CEFFB-E5E9-4950-BEA6-6092DE178C07}" type="presParOf" srcId="{76432AEF-6402-42AA-B412-AEA303C75EEF}" destId="{954F3F5F-8699-4766-AAEA-4165EB8728DE}" srcOrd="0" destOrd="0" presId="urn:microsoft.com/office/officeart/2016/7/layout/HorizontalActionList"/>
    <dgm:cxn modelId="{44B92E62-7A27-4A46-81E2-E4EF9FA13187}" type="presParOf" srcId="{76432AEF-6402-42AA-B412-AEA303C75EEF}" destId="{F103D44F-E778-418C-A7BD-26EFFB33402B}" srcOrd="1" destOrd="0" presId="urn:microsoft.com/office/officeart/2016/7/layout/HorizontalAc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B2FB8-CE82-40F5-BBB9-6163043A17CB}">
      <dsp:nvSpPr>
        <dsp:cNvPr id="0" name=""/>
        <dsp:cNvSpPr/>
      </dsp:nvSpPr>
      <dsp:spPr>
        <a:xfrm>
          <a:off x="0" y="75914"/>
          <a:ext cx="9906000" cy="799950"/>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Every day, millions of customers share their experiences through online reviews</a:t>
          </a:r>
        </a:p>
      </dsp:txBody>
      <dsp:txXfrm>
        <a:off x="39050" y="114964"/>
        <a:ext cx="9827900" cy="721850"/>
      </dsp:txXfrm>
    </dsp:sp>
    <dsp:sp modelId="{4AE062E7-AFA7-4EF3-B3DE-2760EEE4CCF6}">
      <dsp:nvSpPr>
        <dsp:cNvPr id="0" name=""/>
        <dsp:cNvSpPr/>
      </dsp:nvSpPr>
      <dsp:spPr>
        <a:xfrm>
          <a:off x="0" y="939225"/>
          <a:ext cx="9906000" cy="799950"/>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For companies like Amazon, understanding customer sentiment at scale is critical for product improvement, brand monitoring, and competitive strategy</a:t>
          </a:r>
        </a:p>
      </dsp:txBody>
      <dsp:txXfrm>
        <a:off x="39050" y="978275"/>
        <a:ext cx="9827900" cy="721850"/>
      </dsp:txXfrm>
    </dsp:sp>
    <dsp:sp modelId="{254E47C3-1885-4AC5-9145-6696EDDEBBCA}">
      <dsp:nvSpPr>
        <dsp:cNvPr id="0" name=""/>
        <dsp:cNvSpPr/>
      </dsp:nvSpPr>
      <dsp:spPr>
        <a:xfrm>
          <a:off x="0" y="1802536"/>
          <a:ext cx="9906000" cy="799950"/>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Manually reading and categorizing millions of reviews is impossible. businesses need automated, scalable solutions</a:t>
          </a:r>
        </a:p>
      </dsp:txBody>
      <dsp:txXfrm>
        <a:off x="39050" y="1841586"/>
        <a:ext cx="9827900" cy="721850"/>
      </dsp:txXfrm>
    </dsp:sp>
    <dsp:sp modelId="{5D22579B-FA16-46C0-BF3B-04C2D99D936B}">
      <dsp:nvSpPr>
        <dsp:cNvPr id="0" name=""/>
        <dsp:cNvSpPr/>
      </dsp:nvSpPr>
      <dsp:spPr>
        <a:xfrm>
          <a:off x="0" y="2665846"/>
          <a:ext cx="9906000" cy="799950"/>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i="1" kern="1200"/>
            <a:t>Goal: Build a scalable, distributed sentiment analysis pipeline and validate its performance across increasing dataset sizes</a:t>
          </a:r>
          <a:endParaRPr lang="en-US" sz="2200" kern="1200"/>
        </a:p>
      </dsp:txBody>
      <dsp:txXfrm>
        <a:off x="39050" y="2704896"/>
        <a:ext cx="9827900" cy="7218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29A3C4-63BF-42D4-9D7C-118FBAC1F10F}">
      <dsp:nvSpPr>
        <dsp:cNvPr id="0" name=""/>
        <dsp:cNvSpPr/>
      </dsp:nvSpPr>
      <dsp:spPr>
        <a:xfrm>
          <a:off x="0" y="79935"/>
          <a:ext cx="9906000" cy="797940"/>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Aravindan et al. (2023) confirmed that Logistic Regression with TF-IDF achieves over 87% accuracy on Amazon fine food review data using </a:t>
          </a:r>
          <a:r>
            <a:rPr lang="en-US" sz="2200" kern="1200" dirty="0" err="1"/>
            <a:t>PySpark</a:t>
          </a:r>
          <a:r>
            <a:rPr lang="en-US" sz="2200" kern="1200" dirty="0"/>
            <a:t> </a:t>
          </a:r>
          <a:r>
            <a:rPr lang="en-US" sz="2200" kern="1200" dirty="0" err="1"/>
            <a:t>Mllib</a:t>
          </a:r>
          <a:r>
            <a:rPr lang="en-US" sz="2200" kern="1200" dirty="0"/>
            <a:t>.</a:t>
          </a:r>
        </a:p>
      </dsp:txBody>
      <dsp:txXfrm>
        <a:off x="38952" y="118887"/>
        <a:ext cx="9828096" cy="720036"/>
      </dsp:txXfrm>
    </dsp:sp>
    <dsp:sp modelId="{F9C233F0-572F-46F3-BB83-F2C763B2D016}">
      <dsp:nvSpPr>
        <dsp:cNvPr id="0" name=""/>
        <dsp:cNvSpPr/>
      </dsp:nvSpPr>
      <dsp:spPr>
        <a:xfrm>
          <a:off x="0" y="941236"/>
          <a:ext cx="9906000" cy="797940"/>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Bao (2024) demonstrated that rule-based models like VADER struggle with complex, longer review text. supports the use of a trained ML classifier</a:t>
          </a:r>
        </a:p>
      </dsp:txBody>
      <dsp:txXfrm>
        <a:off x="38952" y="980188"/>
        <a:ext cx="9828096" cy="720036"/>
      </dsp:txXfrm>
    </dsp:sp>
    <dsp:sp modelId="{AA2C61E4-79D2-4FF0-888F-4F015F6F15F2}">
      <dsp:nvSpPr>
        <dsp:cNvPr id="0" name=""/>
        <dsp:cNvSpPr/>
      </dsp:nvSpPr>
      <dsp:spPr>
        <a:xfrm>
          <a:off x="0" y="1802536"/>
          <a:ext cx="9906000" cy="797940"/>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Olalekan (2025) confirms binary sentiment classification (Positive vs. Negative) remains the most widely validated and interpretable approach for e-commerce reviews</a:t>
          </a:r>
        </a:p>
      </dsp:txBody>
      <dsp:txXfrm>
        <a:off x="38952" y="1841488"/>
        <a:ext cx="9828096" cy="720036"/>
      </dsp:txXfrm>
    </dsp:sp>
    <dsp:sp modelId="{0194EABA-C532-46CF-B37B-F5606BF007A1}">
      <dsp:nvSpPr>
        <dsp:cNvPr id="0" name=""/>
        <dsp:cNvSpPr/>
      </dsp:nvSpPr>
      <dsp:spPr>
        <a:xfrm>
          <a:off x="0" y="2663836"/>
          <a:ext cx="9906000" cy="797940"/>
        </a:xfrm>
        <a:prstGeom prst="round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3-star reviews are consistently identified in the literature as mixed-sentiment signals that introduce label noise — justifying their exclusion from our dataset</a:t>
          </a:r>
        </a:p>
      </dsp:txBody>
      <dsp:txXfrm>
        <a:off x="38952" y="2702788"/>
        <a:ext cx="9828096" cy="7200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32A802-64F1-4826-88FC-E89D11398B7F}">
      <dsp:nvSpPr>
        <dsp:cNvPr id="0" name=""/>
        <dsp:cNvSpPr/>
      </dsp:nvSpPr>
      <dsp:spPr>
        <a:xfrm>
          <a:off x="12119" y="208775"/>
          <a:ext cx="2389598" cy="716879"/>
        </a:xfrm>
        <a:prstGeom prst="rect">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w="9525"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8831" tIns="188831" rIns="188831" bIns="188831" numCol="1" spcCol="1270" anchor="ctr" anchorCtr="0">
          <a:noAutofit/>
        </a:bodyPr>
        <a:lstStyle/>
        <a:p>
          <a:pPr marL="0" lvl="0" indent="0" algn="ctr" defTabSz="711200">
            <a:lnSpc>
              <a:spcPct val="90000"/>
            </a:lnSpc>
            <a:spcBef>
              <a:spcPct val="0"/>
            </a:spcBef>
            <a:spcAft>
              <a:spcPct val="35000"/>
            </a:spcAft>
            <a:buNone/>
          </a:pPr>
          <a:r>
            <a:rPr lang="en-US" sz="1600" b="1" kern="1200"/>
            <a:t>Cloud Infrastructure</a:t>
          </a:r>
          <a:endParaRPr lang="en-US" sz="1600" kern="1200"/>
        </a:p>
      </dsp:txBody>
      <dsp:txXfrm>
        <a:off x="12119" y="208775"/>
        <a:ext cx="2389598" cy="716879"/>
      </dsp:txXfrm>
    </dsp:sp>
    <dsp:sp modelId="{5FF8B77A-2038-465E-A36D-B80CFC97A704}">
      <dsp:nvSpPr>
        <dsp:cNvPr id="0" name=""/>
        <dsp:cNvSpPr/>
      </dsp:nvSpPr>
      <dsp:spPr>
        <a:xfrm>
          <a:off x="12119" y="925654"/>
          <a:ext cx="2389598" cy="2008290"/>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36039" tIns="236039" rIns="236039" bIns="236039" numCol="1" spcCol="1270" anchor="t" anchorCtr="0">
          <a:noAutofit/>
        </a:bodyPr>
        <a:lstStyle/>
        <a:p>
          <a:pPr marL="0" lvl="0" indent="0" algn="l" defTabSz="533400">
            <a:lnSpc>
              <a:spcPct val="90000"/>
            </a:lnSpc>
            <a:spcBef>
              <a:spcPct val="0"/>
            </a:spcBef>
            <a:spcAft>
              <a:spcPct val="35000"/>
            </a:spcAft>
            <a:buNone/>
          </a:pPr>
          <a:r>
            <a:rPr lang="en-US" sz="1200" kern="1200"/>
            <a:t>Google Cloud Platform (GCP) Dataproc Cluster</a:t>
          </a:r>
        </a:p>
        <a:p>
          <a:pPr marL="0" lvl="0" indent="0" algn="l" defTabSz="533400">
            <a:lnSpc>
              <a:spcPct val="90000"/>
            </a:lnSpc>
            <a:spcBef>
              <a:spcPct val="0"/>
            </a:spcBef>
            <a:spcAft>
              <a:spcPct val="35000"/>
            </a:spcAft>
            <a:buNone/>
          </a:pPr>
          <a:r>
            <a:rPr lang="en-US" sz="1200" kern="1200"/>
            <a:t>Single-node instance — n1-standard-4, 15GB RAM</a:t>
          </a:r>
        </a:p>
        <a:p>
          <a:pPr marL="0" lvl="0" indent="0" algn="l" defTabSz="533400">
            <a:lnSpc>
              <a:spcPct val="90000"/>
            </a:lnSpc>
            <a:spcBef>
              <a:spcPct val="0"/>
            </a:spcBef>
            <a:spcAft>
              <a:spcPct val="35000"/>
            </a:spcAft>
            <a:buNone/>
          </a:pPr>
          <a:r>
            <a:rPr lang="en-US" sz="1200" kern="1200"/>
            <a:t>Apache Spark 3.5.3 | 8GB driver memory, 4GB executor memory</a:t>
          </a:r>
        </a:p>
        <a:p>
          <a:pPr marL="0" lvl="0" indent="0" algn="l" defTabSz="533400">
            <a:lnSpc>
              <a:spcPct val="90000"/>
            </a:lnSpc>
            <a:spcBef>
              <a:spcPct val="0"/>
            </a:spcBef>
            <a:spcAft>
              <a:spcPct val="35000"/>
            </a:spcAft>
            <a:buNone/>
          </a:pPr>
          <a:r>
            <a:rPr lang="en-US" sz="1200" kern="1200"/>
            <a:t>Cloud NAT Gateway for secure Hugging Face API access</a:t>
          </a:r>
        </a:p>
      </dsp:txBody>
      <dsp:txXfrm>
        <a:off x="12119" y="925654"/>
        <a:ext cx="2389598" cy="2008290"/>
      </dsp:txXfrm>
    </dsp:sp>
    <dsp:sp modelId="{EE53813E-0D69-4D37-9A22-87BA3723B08E}">
      <dsp:nvSpPr>
        <dsp:cNvPr id="0" name=""/>
        <dsp:cNvSpPr/>
      </dsp:nvSpPr>
      <dsp:spPr>
        <a:xfrm>
          <a:off x="2509506" y="208775"/>
          <a:ext cx="2389598" cy="716879"/>
        </a:xfrm>
        <a:prstGeom prst="rect">
          <a:avLst/>
        </a:prstGeom>
        <a:gradFill rotWithShape="0">
          <a:gsLst>
            <a:gs pos="0">
              <a:schemeClr val="accent3">
                <a:hueOff val="0"/>
                <a:satOff val="0"/>
                <a:lumOff val="0"/>
                <a:alphaOff val="0"/>
                <a:tint val="94000"/>
                <a:satMod val="105000"/>
                <a:lumMod val="102000"/>
              </a:schemeClr>
            </a:gs>
            <a:gs pos="100000">
              <a:schemeClr val="accent3">
                <a:hueOff val="0"/>
                <a:satOff val="0"/>
                <a:lumOff val="0"/>
                <a:alphaOff val="0"/>
                <a:shade val="74000"/>
                <a:satMod val="128000"/>
                <a:lumMod val="100000"/>
              </a:schemeClr>
            </a:gs>
          </a:gsLst>
          <a:lin ang="5400000" scaled="0"/>
        </a:gradFill>
        <a:ln w="9525"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8831" tIns="188831" rIns="188831" bIns="188831" numCol="1" spcCol="1270" anchor="ctr" anchorCtr="0">
          <a:noAutofit/>
        </a:bodyPr>
        <a:lstStyle/>
        <a:p>
          <a:pPr marL="0" lvl="0" indent="0" algn="ctr" defTabSz="711200">
            <a:lnSpc>
              <a:spcPct val="90000"/>
            </a:lnSpc>
            <a:spcBef>
              <a:spcPct val="0"/>
            </a:spcBef>
            <a:spcAft>
              <a:spcPct val="35000"/>
            </a:spcAft>
            <a:buNone/>
          </a:pPr>
          <a:r>
            <a:rPr lang="en-US" sz="1600" b="1" kern="1200"/>
            <a:t>Dataset</a:t>
          </a:r>
          <a:endParaRPr lang="en-US" sz="1600" kern="1200"/>
        </a:p>
      </dsp:txBody>
      <dsp:txXfrm>
        <a:off x="2509506" y="208775"/>
        <a:ext cx="2389598" cy="716879"/>
      </dsp:txXfrm>
    </dsp:sp>
    <dsp:sp modelId="{069A1BEA-A550-4FB3-884B-874E1F926B24}">
      <dsp:nvSpPr>
        <dsp:cNvPr id="0" name=""/>
        <dsp:cNvSpPr/>
      </dsp:nvSpPr>
      <dsp:spPr>
        <a:xfrm>
          <a:off x="2509506" y="925654"/>
          <a:ext cx="2389598" cy="200829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36039" tIns="236039" rIns="236039" bIns="236039" numCol="1" spcCol="1270" anchor="t" anchorCtr="0">
          <a:noAutofit/>
        </a:bodyPr>
        <a:lstStyle/>
        <a:p>
          <a:pPr marL="0" lvl="0" indent="0" algn="l" defTabSz="533400">
            <a:lnSpc>
              <a:spcPct val="90000"/>
            </a:lnSpc>
            <a:spcBef>
              <a:spcPct val="0"/>
            </a:spcBef>
            <a:spcAft>
              <a:spcPct val="35000"/>
            </a:spcAft>
            <a:buNone/>
          </a:pPr>
          <a:r>
            <a:rPr lang="en-US" sz="1200" kern="1200" dirty="0"/>
            <a:t>Amazon Reviews 2023 — Grocery &amp; Gourmet Food</a:t>
          </a:r>
        </a:p>
        <a:p>
          <a:pPr marL="0" lvl="0" indent="0" algn="l" defTabSz="533400">
            <a:lnSpc>
              <a:spcPct val="90000"/>
            </a:lnSpc>
            <a:spcBef>
              <a:spcPct val="0"/>
            </a:spcBef>
            <a:spcAft>
              <a:spcPct val="35000"/>
            </a:spcAft>
            <a:buNone/>
          </a:pPr>
          <a:r>
            <a:rPr lang="en-US" sz="1200" kern="1200"/>
            <a:t>14.3 million total reviews, streamed via Hugging Face API</a:t>
          </a:r>
        </a:p>
        <a:p>
          <a:pPr marL="0" lvl="0" indent="0" algn="l" defTabSz="533400">
            <a:lnSpc>
              <a:spcPct val="90000"/>
            </a:lnSpc>
            <a:spcBef>
              <a:spcPct val="0"/>
            </a:spcBef>
            <a:spcAft>
              <a:spcPct val="35000"/>
            </a:spcAft>
            <a:buNone/>
          </a:pPr>
          <a:r>
            <a:rPr lang="en-US" sz="1200" kern="1200"/>
            <a:t>Subsets tested: 50,000 | 100,000 | 250,000 records</a:t>
          </a:r>
        </a:p>
        <a:p>
          <a:pPr marL="0" lvl="0" indent="0" algn="l" defTabSz="533400">
            <a:lnSpc>
              <a:spcPct val="90000"/>
            </a:lnSpc>
            <a:spcBef>
              <a:spcPct val="0"/>
            </a:spcBef>
            <a:spcAft>
              <a:spcPct val="35000"/>
            </a:spcAft>
            <a:buNone/>
          </a:pPr>
          <a:r>
            <a:rPr lang="en-US" sz="1200" kern="1200" dirty="0"/>
            <a:t>80% training / 20% validation split </a:t>
          </a:r>
        </a:p>
      </dsp:txBody>
      <dsp:txXfrm>
        <a:off x="2509506" y="925654"/>
        <a:ext cx="2389598" cy="2008290"/>
      </dsp:txXfrm>
    </dsp:sp>
    <dsp:sp modelId="{2469E5E3-6332-4246-B54D-ABC7F8700BB2}">
      <dsp:nvSpPr>
        <dsp:cNvPr id="0" name=""/>
        <dsp:cNvSpPr/>
      </dsp:nvSpPr>
      <dsp:spPr>
        <a:xfrm>
          <a:off x="5006894" y="208775"/>
          <a:ext cx="2389598" cy="716879"/>
        </a:xfrm>
        <a:prstGeom prst="rect">
          <a:avLst/>
        </a:prstGeom>
        <a:gradFill rotWithShape="0">
          <a:gsLst>
            <a:gs pos="0">
              <a:schemeClr val="accent4">
                <a:hueOff val="0"/>
                <a:satOff val="0"/>
                <a:lumOff val="0"/>
                <a:alphaOff val="0"/>
                <a:tint val="94000"/>
                <a:satMod val="105000"/>
                <a:lumMod val="102000"/>
              </a:schemeClr>
            </a:gs>
            <a:gs pos="100000">
              <a:schemeClr val="accent4">
                <a:hueOff val="0"/>
                <a:satOff val="0"/>
                <a:lumOff val="0"/>
                <a:alphaOff val="0"/>
                <a:shade val="74000"/>
                <a:satMod val="128000"/>
                <a:lumMod val="100000"/>
              </a:schemeClr>
            </a:gs>
          </a:gsLst>
          <a:lin ang="5400000" scaled="0"/>
        </a:gradFill>
        <a:ln w="9525"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8831" tIns="188831" rIns="188831" bIns="188831" numCol="1" spcCol="1270" anchor="ctr" anchorCtr="0">
          <a:noAutofit/>
        </a:bodyPr>
        <a:lstStyle/>
        <a:p>
          <a:pPr marL="0" lvl="0" indent="0" algn="ctr" defTabSz="711200">
            <a:lnSpc>
              <a:spcPct val="90000"/>
            </a:lnSpc>
            <a:spcBef>
              <a:spcPct val="0"/>
            </a:spcBef>
            <a:spcAft>
              <a:spcPct val="35000"/>
            </a:spcAft>
            <a:buNone/>
          </a:pPr>
          <a:r>
            <a:rPr lang="en-US" sz="1600" b="1" kern="1200"/>
            <a:t>Primary Model — Logistic Regression</a:t>
          </a:r>
          <a:endParaRPr lang="en-US" sz="1600" kern="1200"/>
        </a:p>
      </dsp:txBody>
      <dsp:txXfrm>
        <a:off x="5006894" y="208775"/>
        <a:ext cx="2389598" cy="716879"/>
      </dsp:txXfrm>
    </dsp:sp>
    <dsp:sp modelId="{BE556291-9A9F-48E1-91AF-7FB09294348B}">
      <dsp:nvSpPr>
        <dsp:cNvPr id="0" name=""/>
        <dsp:cNvSpPr/>
      </dsp:nvSpPr>
      <dsp:spPr>
        <a:xfrm>
          <a:off x="5006894" y="925654"/>
          <a:ext cx="2389598" cy="2008290"/>
        </a:xfrm>
        <a:prstGeom prst="rect">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36039" tIns="236039" rIns="236039" bIns="236039" numCol="1" spcCol="1270" anchor="t" anchorCtr="0">
          <a:noAutofit/>
        </a:bodyPr>
        <a:lstStyle/>
        <a:p>
          <a:pPr marL="0" lvl="0" indent="0" algn="l" defTabSz="533400">
            <a:lnSpc>
              <a:spcPct val="90000"/>
            </a:lnSpc>
            <a:spcBef>
              <a:spcPct val="0"/>
            </a:spcBef>
            <a:spcAft>
              <a:spcPct val="35000"/>
            </a:spcAft>
            <a:buNone/>
          </a:pPr>
          <a:r>
            <a:rPr lang="en-US" sz="1200" kern="1200" dirty="0" err="1"/>
            <a:t>HashingTF</a:t>
          </a:r>
          <a:r>
            <a:rPr lang="en-US" sz="1200" kern="1200" dirty="0"/>
            <a:t>: 10,000 features</a:t>
          </a:r>
        </a:p>
        <a:p>
          <a:pPr marL="0" lvl="0" indent="0" algn="l" defTabSz="533400">
            <a:lnSpc>
              <a:spcPct val="90000"/>
            </a:lnSpc>
            <a:spcBef>
              <a:spcPct val="0"/>
            </a:spcBef>
            <a:spcAft>
              <a:spcPct val="35000"/>
            </a:spcAft>
            <a:buNone/>
          </a:pPr>
          <a:r>
            <a:rPr lang="en-US" sz="1200" kern="1200" dirty="0"/>
            <a:t>Max iterations: 10</a:t>
          </a:r>
        </a:p>
        <a:p>
          <a:pPr marL="0" lvl="0" indent="0" algn="l" defTabSz="533400">
            <a:lnSpc>
              <a:spcPct val="90000"/>
            </a:lnSpc>
            <a:spcBef>
              <a:spcPct val="0"/>
            </a:spcBef>
            <a:spcAft>
              <a:spcPct val="35000"/>
            </a:spcAft>
            <a:buNone/>
          </a:pPr>
          <a:r>
            <a:rPr lang="en-US" sz="1200" kern="1200"/>
            <a:t>Regularization: 0.01</a:t>
          </a:r>
          <a:endParaRPr lang="en-US" sz="1200" kern="1200" dirty="0"/>
        </a:p>
      </dsp:txBody>
      <dsp:txXfrm>
        <a:off x="5006894" y="925654"/>
        <a:ext cx="2389598" cy="2008290"/>
      </dsp:txXfrm>
    </dsp:sp>
    <dsp:sp modelId="{954F3F5F-8699-4766-AAEA-4165EB8728DE}">
      <dsp:nvSpPr>
        <dsp:cNvPr id="0" name=""/>
        <dsp:cNvSpPr/>
      </dsp:nvSpPr>
      <dsp:spPr>
        <a:xfrm>
          <a:off x="7504282" y="208775"/>
          <a:ext cx="2389598" cy="716879"/>
        </a:xfrm>
        <a:prstGeom prst="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w="9525"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8831" tIns="188831" rIns="188831" bIns="188831" numCol="1" spcCol="1270" anchor="ctr" anchorCtr="0">
          <a:noAutofit/>
        </a:bodyPr>
        <a:lstStyle/>
        <a:p>
          <a:pPr marL="0" lvl="0" indent="0" algn="ctr" defTabSz="711200">
            <a:lnSpc>
              <a:spcPct val="90000"/>
            </a:lnSpc>
            <a:spcBef>
              <a:spcPct val="0"/>
            </a:spcBef>
            <a:spcAft>
              <a:spcPct val="35000"/>
            </a:spcAft>
            <a:buNone/>
          </a:pPr>
          <a:r>
            <a:rPr lang="en-US" sz="1600" b="1" kern="1200" dirty="0"/>
            <a:t>Baseline Model — Naïve Bayes</a:t>
          </a:r>
          <a:endParaRPr lang="en-US" sz="1600" kern="1200" dirty="0"/>
        </a:p>
      </dsp:txBody>
      <dsp:txXfrm>
        <a:off x="7504282" y="208775"/>
        <a:ext cx="2389598" cy="716879"/>
      </dsp:txXfrm>
    </dsp:sp>
    <dsp:sp modelId="{F103D44F-E778-418C-A7BD-26EFFB33402B}">
      <dsp:nvSpPr>
        <dsp:cNvPr id="0" name=""/>
        <dsp:cNvSpPr/>
      </dsp:nvSpPr>
      <dsp:spPr>
        <a:xfrm>
          <a:off x="7504282" y="925654"/>
          <a:ext cx="2389598" cy="2008290"/>
        </a:xfrm>
        <a:prstGeom prst="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36039" tIns="236039" rIns="236039" bIns="236039" numCol="1" spcCol="1270" anchor="t" anchorCtr="0">
          <a:noAutofit/>
        </a:bodyPr>
        <a:lstStyle/>
        <a:p>
          <a:pPr marL="0" lvl="0" indent="0" algn="l" defTabSz="533400">
            <a:lnSpc>
              <a:spcPct val="90000"/>
            </a:lnSpc>
            <a:spcBef>
              <a:spcPct val="0"/>
            </a:spcBef>
            <a:spcAft>
              <a:spcPct val="35000"/>
            </a:spcAft>
            <a:buNone/>
          </a:pPr>
          <a:r>
            <a:rPr lang="en-US" sz="1200" kern="1200" dirty="0"/>
            <a:t>Identical TF-IDF pipeline</a:t>
          </a:r>
        </a:p>
        <a:p>
          <a:pPr marL="0" lvl="0" indent="0" algn="l" defTabSz="533400">
            <a:lnSpc>
              <a:spcPct val="90000"/>
            </a:lnSpc>
            <a:spcBef>
              <a:spcPct val="0"/>
            </a:spcBef>
            <a:spcAft>
              <a:spcPct val="35000"/>
            </a:spcAft>
            <a:buNone/>
          </a:pPr>
          <a:r>
            <a:rPr lang="en-US" sz="1200" kern="1200" dirty="0"/>
            <a:t>Laplace smoothing: 1.0</a:t>
          </a:r>
        </a:p>
      </dsp:txBody>
      <dsp:txXfrm>
        <a:off x="7504282" y="925654"/>
        <a:ext cx="2389598" cy="200829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9E0EA7-10CF-42FC-9D76-114297FC4C5E}"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F8C701-FBF6-45BD-85D0-0BE938BB63F1}" type="slidenum">
              <a:rPr lang="en-US" smtClean="0"/>
              <a:t>‹#›</a:t>
            </a:fld>
            <a:endParaRPr lang="en-US"/>
          </a:p>
        </p:txBody>
      </p:sp>
    </p:spTree>
    <p:extLst>
      <p:ext uri="{BB962C8B-B14F-4D97-AF65-F5344CB8AC3E}">
        <p14:creationId xmlns:p14="http://schemas.microsoft.com/office/powerpoint/2010/main" val="3681766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Explain why this problem matters. Online reviews are a key driver of consumer purchasing decisions, but manually analyzing millions of them is impractical. Frame the core challenge: how can we automatically classify customer sentiment — positive vs. negative — at scale? Highlight the volume of Amazon review data as both the opportunity and the engineering challenge. The dataset used contains millions of reviews across many product categories, making this a genuine big data problem rather than a toy example.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Walk through relevant prior work in sentiment analysis. Cover foundational NLP techniques — bag-of-words, TF-IDF representations, and classical classifiers like Logistic Regression and Naïve Bayes. Discuss why distributed frameworks like Apache Spark are necessary for processing data at this scale. Mention any key papers or benchmark datasets that informed the approach, such as the McAuley Amazon review corpus. Connect the literature to the design choices made in this project.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Describe the experimental setup. Explain the choice of Apache Spark MLlib for distributed text processing and classification. Outline the infrastructure: a single-node cluster running Spark in local mode. Three dataset sizes were tested — 50K, 100K, and 250K records — chosen to observe how performance and accuracy scale. Note that a 500K record run was attempted but failed due to memory exhaustion, which became one of the key findings. Mention the data source (Amazon product reviews) and any preprocessing steps done before ingestion into the pipeline.</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err="1"/>
              <a:t>HashingTF</a:t>
            </a:r>
            <a:r>
              <a:rPr lang="en-US" b="1" dirty="0"/>
              <a:t>: 10,000 features</a:t>
            </a:r>
            <a:r>
              <a:rPr lang="en-US" dirty="0"/>
              <a:t> TF stands for Term Frequency — it counts how often each word appears in a review. "Hashing" is the method used to convert words into numbers that the model can work with. The 10,000 means we're using 10,000 possible "slots" to store those word counts. Think of it like having 10,000 categories that every word in the vocabulary gets sorted into. More features = more detail, but also more memory. 10,000 is a standard, practical choice.</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Max iterations: 10</a:t>
            </a:r>
            <a:r>
              <a:rPr lang="en-US" dirty="0"/>
              <a:t> Logistic Regression learns by repeatedly adjusting its internal weights to get better at predicting sentiment. Each adjustment is called an iteration. We capped it at 10, meaning the model gets 10 chances to improve itself before stopping. For a dataset this size with TF-IDF features, 10 iterations is generally sufficient to converge on a good solution without wasting computation time.</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Regularization: 0.01</a:t>
            </a:r>
            <a:r>
              <a:rPr lang="en-US" dirty="0"/>
              <a:t> Regularization is a technique that prevents the model from "overfitting" — meaning memorizing the training data instead of learning general patterns. The value 0.01 controls how strongly that penalty is applied. A smaller value like 0.01 means light regularization, which makes sense here because our dataset is large enough that overfitting is less of a concern.</a:t>
            </a:r>
          </a:p>
          <a:p>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Laplace smoothing: 1.0</a:t>
            </a:r>
            <a:r>
              <a:rPr lang="en-US" dirty="0"/>
              <a:t> Naïve Bayes works by calculating probabilities for each word. The problem is if a word appears in the test set but never appeared during training, the model assigns it a probability of zero — which breaks the math entirely. Laplace smoothing fixes this by adding a small count of 1 to every word, even unseen ones, so no probability ever hits zero. A value of 1.0 is the standard default.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Naïve Bayes is a probability-based model. It looks at each word in a review independently and asks — given that this word appears, how likely is this review to be positive or negative? It then multiplies all those individual word probabilities together to make a final prediction. It's called "naïve" because it assumes every word is completely independent of every other word, which isn't really true in real language — but the simplification works surprisingly well in practice.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Logistic Regression is a classification algorithm that learns to draw a dividing line between two categories — in our case, Positive and Negative reviews.</a:t>
            </a:r>
          </a:p>
          <a:p>
            <a:r>
              <a:rPr lang="en-US" dirty="0"/>
              <a:t>During training, the model looks at thousands of reviews where it already knows the answer, and learns which words are most associated with positive sentiment and which are most associated with negative sentiment. Words like "amazing" or "delicious" get pushed toward positive, words like "terrible" or "disgusting" get pushed toward negative.</a:t>
            </a:r>
          </a:p>
          <a:p>
            <a:r>
              <a:rPr lang="en-US" dirty="0"/>
              <a:t>Once trained, when it sees a new review it has never seen before, it calculates a probability score between 0 and 1. If the score is above 0.5, it predicts Positive. Below 0.5, it predicts Negative. That probability score is also what we show as the confidence percentage in our interactive demo.</a:t>
            </a:r>
          </a:p>
          <a:p>
            <a:r>
              <a:rPr lang="en-US"/>
              <a:t>The reason we chose Logistic Regression over something more complex like a neural network is exactly what the literature supports — for large datasets with TF-IDF features, it is fast, interpretable, scalable, and consistently delivers strong accuracy without the computational overhead of deep learning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Walk through the system architecture diagram. The end-to-end pipeline flows from raw Amazon review ingestion through text preprocessing, feature engineering with TF-IDF, model training, and final sentiment prediction output. Emphasize that all stages run within Spark's distributed execution model, meaning the same code can scale from a single node to a multi-node cluster with minimal changes. Point out how the modular design makes it easy to swap in alternative models or feature extraction methods in future iterations.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Walk through each of the five pipeline stages: (1) Tokenizer — splits raw review text into individual words/tokens; (2) StopWordsRemover — filters out common but uninformative words like 'the', 'is', 'a' that add noise without predictive value; (3) HashingTF — converts the cleaned token list into a fixed-size numerical feature vector using the hashing trick, avoiding the need for a vocabulary dictionary; (4) IDF (Inverse Document Frequency) — rescales the TF features by downweighting terms that appear frequently across the entire corpus, lifting the signal from rarer, more discriminating words; (5) Logistic Regression — trains a binary classifier to predict positive or negative sentiment. Emphasize that this entire sequence is wrapped in a single Spark Pipeline object, making it trivial to call fit() and transform() in one step, and ensuring the same preprocessing steps are applied identically at training and inference time.</a:t>
            </a:r>
          </a:p>
          <a:p>
            <a:endParaRPr lang="en-US" sz="1200" dirty="0"/>
          </a:p>
          <a:p>
            <a:endParaRPr 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Draw the audience's attention to the significant class imbalance: across all three dataset sizes, approximately 87% of reviews are positive and only 13% are negative. This mirrors the real-world distribution of Amazon reviews, where customers tend to leave reviews when satisfied. Discuss the implications: the model can achieve ~87% accuracy simply by predicting 'positive' every time — so the F1-score and per-class metrics matter more than raw accuracy here. On the training split: an 80/20 split was applied consistently across all sizes. The 250K dataset yields 185,440 training examples, providing substantially more signal for the model. Note that the 50K dataset (37,001 training samples) still performs well, suggesting TF-IDF + Logistic Regression is relatively data-efficient.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Compare the two models head-to-head. Key takeaways: Logistic Regression consistently outperforms Naive Bayes in accuracy across all dataset sizes — at 250K records, LR achieves 92.82% vs NB's 89.24%, a 3.58 percentage point gap. LR's F1-score (92.04%) also beats NB (90.07%), meaning LR handles the class imbalance better. On training time: Naive Bayes is faster at smaller scales (10.05s vs 18.71s at 50K), which may favor NB in latency-sensitive or resource-constrained scenarios. However, both models converge to nearly identical training times at 250K records (~31s), eliminating NB's speed advantage at scale. Potential audience questions: Why not try more complex models like SVM or neural networks? (Answer: complexity vs. interpretability tradeoff, and Spark MLlib's well-optimized LR implementation already achieves strong results.) How would results differ with better handling of class imbalance, e.g. oversampling or class weights?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Discuss the four key findings in depth. (1) Accuracy scales with data: LR accuracy rises consistently from 91.43% at 50K to 92.82% at 250K — each doubling of data yields measurable gains, validating the core hypothesis that more data improves the model. (2) JVM warm-up effect: the 100K run (17.00s) was actually faster than the 50K run (18.71s). This counterintuitive result is explained by Spark's JVM initialization overhead on the first execution — subsequent runs benefit from a warmed-up JVM. This is important context when benchmarking distributed systems. (3) Class imbalance: ~87-88% of all reviews are positive across every dataset size. Despite this skew, the model performs well in manual testing, though precision/recall on the negative class deserves closer scrutiny in future work. (4) Infrastructure ceiling: the 500K record run crashed due to memory exhaustion on the single-node cluster. This is not a failure — it's a concrete demonstration of why multi-node distributed infrastructure is necessary at production scale. It also validates the entire motivation for using Spark in the first place.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Lay out the five directions for future work and why each matters. (1) Multi-node GCP Dataproc cluster: the 500K crash demonstrated this is necessary to unlock the full 14.3 million review dataset — a cluster of even 3-4 nodes would resolve the memory bottleneck. (2) Per-class precision and recall: with 87% positive class dominance, overall accuracy is a misleading metric. Per-class F1 for the negative class would reveal how well the model actually catches negative reviews. (3) Word embeddings (Word2Vec, GloVe): TF-IDF treats words as independent features and misses semantic relationships. Embeddings would capture context — e.g., 'not good' vs 'good' would be represented differently. (4) Additional product categories: the current dataset may be from a single category; testing on diverse categories (electronics, clothing, food) would validate generalizability. (5) 32GB RAM single-node: a lower-cost intermediate step — upgrading RAM on the existing machine may extend the viable dataset size before requiring a full multi-node deployment.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Open the floor for Q&amp;A. Be ready to address likely questions: (1) Why Logistic Regression over more complex models? — LR is highly interpretable, trains efficiently in Spark MLlib, and already achieves strong accuracy; complexity would add cost without clear benefit at this stage. (2) How was class imbalance handled? — It wasn't explicitly addressed in this iteration; future work will add class weights and per-class metrics. (3) What would it take to scale to the full 14.3M review dataset? — A multi-node GCP Dataproc cluster with sufficient RAM, plus potential partitioning strategy changes. (4) How would the model perform on non-Amazon data? — Unknown without testing; generalizability is a key open question. (5) Could this work in real-time? — Yes, with Spark Streaming; the pipeline model is already serializable for inference. Thank the audience and close.</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FEDAF92-45F8-4EDB-B896-B35684644C1A}" type="datetimeFigureOut">
              <a:rPr lang="en-US" smtClean="0"/>
              <a:t>4/23/2026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324276996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EDAF92-45F8-4EDB-B896-B35684644C1A}"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14183099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EDAF92-45F8-4EDB-B896-B35684644C1A}"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8770971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18390899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FEDAF92-45F8-4EDB-B896-B35684644C1A}"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36446754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EDAF92-45F8-4EDB-B896-B35684644C1A}"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15207578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EDAF92-45F8-4EDB-B896-B35684644C1A}"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2741642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399205817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29672224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21180827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5367596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556347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EDAF92-45F8-4EDB-B896-B35684644C1A}"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31594311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EDAF92-45F8-4EDB-B896-B35684644C1A}"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142917034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FEDAF92-45F8-4EDB-B896-B35684644C1A}"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10996658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EDAF92-45F8-4EDB-B896-B35684644C1A}"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293213449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FEDAF92-45F8-4EDB-B896-B35684644C1A}"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676CF2-1DE8-41A6-9449-E8758CF2CD6B}" type="slidenum">
              <a:rPr lang="en-US" smtClean="0"/>
              <a:t>‹#›</a:t>
            </a:fld>
            <a:endParaRPr lang="en-US"/>
          </a:p>
        </p:txBody>
      </p:sp>
    </p:spTree>
    <p:extLst>
      <p:ext uri="{BB962C8B-B14F-4D97-AF65-F5344CB8AC3E}">
        <p14:creationId xmlns:p14="http://schemas.microsoft.com/office/powerpoint/2010/main" val="374883885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FEDAF92-45F8-4EDB-B896-B35684644C1A}" type="datetimeFigureOut">
              <a:rPr lang="en-US" smtClean="0"/>
              <a:t>4/23/2026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B676CF2-1DE8-41A6-9449-E8758CF2CD6B}" type="slidenum">
              <a:rPr lang="en-US" smtClean="0"/>
              <a:t>‹#›</a:t>
            </a:fld>
            <a:endParaRPr lang="en-US"/>
          </a:p>
        </p:txBody>
      </p:sp>
    </p:spTree>
    <p:extLst>
      <p:ext uri="{BB962C8B-B14F-4D97-AF65-F5344CB8AC3E}">
        <p14:creationId xmlns:p14="http://schemas.microsoft.com/office/powerpoint/2010/main" val="60031350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97" name="Rectangle 96">
            <a:extLst>
              <a:ext uri="{FF2B5EF4-FFF2-40B4-BE49-F238E27FC236}">
                <a16:creationId xmlns:a16="http://schemas.microsoft.com/office/drawing/2014/main" id="{61C6D790-69F0-40CA-813A-84D724D1C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48476"/>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Round Diagonal Corner Rectangle 7">
            <a:extLst>
              <a:ext uri="{FF2B5EF4-FFF2-40B4-BE49-F238E27FC236}">
                <a16:creationId xmlns:a16="http://schemas.microsoft.com/office/drawing/2014/main" id="{F5A78137-DBB7-4A93-98AC-5606814E2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40673" y="806450"/>
            <a:ext cx="9319476" cy="4502149"/>
          </a:xfrm>
          <a:prstGeom prst="round2DiagRect">
            <a:avLst>
              <a:gd name="adj1" fmla="val 7929"/>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srgbClr val="092338">
                <a:alpha val="4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86BB87-F214-BE21-020E-B2CBC9DBE26E}"/>
              </a:ext>
            </a:extLst>
          </p:cNvPr>
          <p:cNvSpPr>
            <a:spLocks noGrp="1"/>
          </p:cNvSpPr>
          <p:nvPr>
            <p:ph type="ctrTitle"/>
          </p:nvPr>
        </p:nvSpPr>
        <p:spPr>
          <a:xfrm>
            <a:off x="2685145" y="1125511"/>
            <a:ext cx="7135566" cy="2656971"/>
          </a:xfrm>
        </p:spPr>
        <p:txBody>
          <a:bodyPr>
            <a:normAutofit/>
          </a:bodyPr>
          <a:lstStyle/>
          <a:p>
            <a:r>
              <a:rPr lang="en-US" sz="5400">
                <a:solidFill>
                  <a:srgbClr val="FFFFFF"/>
                </a:solidFill>
              </a:rPr>
              <a:t>Sentiment Analysis of Amazon Reviews </a:t>
            </a:r>
          </a:p>
        </p:txBody>
      </p:sp>
      <p:sp>
        <p:nvSpPr>
          <p:cNvPr id="3" name="Subtitle 2">
            <a:extLst>
              <a:ext uri="{FF2B5EF4-FFF2-40B4-BE49-F238E27FC236}">
                <a16:creationId xmlns:a16="http://schemas.microsoft.com/office/drawing/2014/main" id="{DA12C39C-211A-B667-EF05-90886A42F140}"/>
              </a:ext>
            </a:extLst>
          </p:cNvPr>
          <p:cNvSpPr>
            <a:spLocks noGrp="1"/>
          </p:cNvSpPr>
          <p:nvPr>
            <p:ph type="subTitle" idx="1"/>
          </p:nvPr>
        </p:nvSpPr>
        <p:spPr>
          <a:xfrm>
            <a:off x="2684139" y="3782482"/>
            <a:ext cx="7136760" cy="1204383"/>
          </a:xfrm>
        </p:spPr>
        <p:txBody>
          <a:bodyPr>
            <a:normAutofit/>
          </a:bodyPr>
          <a:lstStyle/>
          <a:p>
            <a:r>
              <a:rPr lang="en-US" sz="1800">
                <a:solidFill>
                  <a:srgbClr val="FFFFFF"/>
                </a:solidFill>
              </a:rPr>
              <a:t>Jaydon Debus and Philipp Kouterguine</a:t>
            </a:r>
          </a:p>
          <a:p>
            <a:endParaRPr lang="en-US" sz="1800">
              <a:solidFill>
                <a:srgbClr val="FFFFFF"/>
              </a:solidFill>
            </a:endParaRPr>
          </a:p>
        </p:txBody>
      </p:sp>
    </p:spTree>
    <p:extLst>
      <p:ext uri="{BB962C8B-B14F-4D97-AF65-F5344CB8AC3E}">
        <p14:creationId xmlns:p14="http://schemas.microsoft.com/office/powerpoint/2010/main" val="401306299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01F67CC9-D773-4B4B-8A55-D5DAEC341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63254-4C25-E0F8-E7D0-B7CE95E8FCC3}"/>
              </a:ext>
            </a:extLst>
          </p:cNvPr>
          <p:cNvSpPr>
            <a:spLocks noGrp="1"/>
          </p:cNvSpPr>
          <p:nvPr>
            <p:ph type="title"/>
          </p:nvPr>
        </p:nvSpPr>
        <p:spPr>
          <a:xfrm>
            <a:off x="1141413" y="618518"/>
            <a:ext cx="9905998" cy="1478570"/>
          </a:xfrm>
        </p:spPr>
        <p:txBody>
          <a:bodyPr>
            <a:normAutofit/>
          </a:bodyPr>
          <a:lstStyle/>
          <a:p>
            <a:r>
              <a:rPr lang="en-US"/>
              <a:t>Motivation &amp; Problem </a:t>
            </a:r>
          </a:p>
        </p:txBody>
      </p:sp>
      <p:graphicFrame>
        <p:nvGraphicFramePr>
          <p:cNvPr id="6" name="Content Placeholder 2">
            <a:extLst>
              <a:ext uri="{FF2B5EF4-FFF2-40B4-BE49-F238E27FC236}">
                <a16:creationId xmlns:a16="http://schemas.microsoft.com/office/drawing/2014/main" id="{ACA3E6EA-4CE4-34BE-2251-CA726CA5EB92}"/>
              </a:ext>
            </a:extLst>
          </p:cNvPr>
          <p:cNvGraphicFramePr>
            <a:graphicFrameLocks noGrp="1"/>
          </p:cNvGraphicFramePr>
          <p:nvPr>
            <p:ph idx="1"/>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420904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useBgFill="1">
        <p:nvSpPr>
          <p:cNvPr id="219" name="Rectangle 218">
            <a:extLst>
              <a:ext uri="{FF2B5EF4-FFF2-40B4-BE49-F238E27FC236}">
                <a16:creationId xmlns:a16="http://schemas.microsoft.com/office/drawing/2014/main" id="{01F67CC9-D773-4B4B-8A55-D5DAEC341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3CCD18-648F-C725-2294-7B47A0DB7484}"/>
              </a:ext>
            </a:extLst>
          </p:cNvPr>
          <p:cNvSpPr>
            <a:spLocks noGrp="1"/>
          </p:cNvSpPr>
          <p:nvPr>
            <p:ph type="title"/>
          </p:nvPr>
        </p:nvSpPr>
        <p:spPr>
          <a:xfrm>
            <a:off x="1141413" y="618518"/>
            <a:ext cx="9905998" cy="1478570"/>
          </a:xfrm>
        </p:spPr>
        <p:txBody>
          <a:bodyPr>
            <a:normAutofit/>
          </a:bodyPr>
          <a:lstStyle/>
          <a:p>
            <a:r>
              <a:rPr lang="en-US"/>
              <a:t>Background &amp; Literature</a:t>
            </a:r>
          </a:p>
        </p:txBody>
      </p:sp>
      <p:graphicFrame>
        <p:nvGraphicFramePr>
          <p:cNvPr id="145" name="Content Placeholder 2">
            <a:extLst>
              <a:ext uri="{FF2B5EF4-FFF2-40B4-BE49-F238E27FC236}">
                <a16:creationId xmlns:a16="http://schemas.microsoft.com/office/drawing/2014/main" id="{FB07D5C1-8FF7-FD29-65CE-03C58DDFF49E}"/>
              </a:ext>
            </a:extLst>
          </p:cNvPr>
          <p:cNvGraphicFramePr>
            <a:graphicFrameLocks noGrp="1"/>
          </p:cNvGraphicFramePr>
          <p:nvPr>
            <p:ph idx="1"/>
            <p:extLst>
              <p:ext uri="{D42A27DB-BD31-4B8C-83A1-F6EECF244321}">
                <p14:modId xmlns:p14="http://schemas.microsoft.com/office/powerpoint/2010/main" val="3065099294"/>
              </p:ext>
            </p:extLst>
          </p:nvPr>
        </p:nvGraphicFramePr>
        <p:xfrm>
          <a:off x="1141413" y="2249488"/>
          <a:ext cx="9906000" cy="3541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8483248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CDCDF-86D9-8721-C894-2D22208B0EB8}"/>
              </a:ext>
            </a:extLst>
          </p:cNvPr>
          <p:cNvSpPr>
            <a:spLocks noGrp="1"/>
          </p:cNvSpPr>
          <p:nvPr>
            <p:ph type="title"/>
          </p:nvPr>
        </p:nvSpPr>
        <p:spPr>
          <a:xfrm>
            <a:off x="1141413" y="618518"/>
            <a:ext cx="9905998" cy="1478570"/>
          </a:xfrm>
        </p:spPr>
        <p:txBody>
          <a:bodyPr>
            <a:normAutofit/>
          </a:bodyPr>
          <a:lstStyle/>
          <a:p>
            <a:r>
              <a:rPr lang="en-US"/>
              <a:t>Project Setup</a:t>
            </a:r>
            <a:endParaRPr lang="en-US" dirty="0"/>
          </a:p>
        </p:txBody>
      </p:sp>
      <p:graphicFrame>
        <p:nvGraphicFramePr>
          <p:cNvPr id="5" name="Content Placeholder 2">
            <a:extLst>
              <a:ext uri="{FF2B5EF4-FFF2-40B4-BE49-F238E27FC236}">
                <a16:creationId xmlns:a16="http://schemas.microsoft.com/office/drawing/2014/main" id="{1FBE073F-AFD4-5DB4-E017-228F0D20A81E}"/>
              </a:ext>
            </a:extLst>
          </p:cNvPr>
          <p:cNvGraphicFramePr>
            <a:graphicFrameLocks noGrp="1"/>
          </p:cNvGraphicFramePr>
          <p:nvPr>
            <p:ph idx="1"/>
            <p:extLst>
              <p:ext uri="{D42A27DB-BD31-4B8C-83A1-F6EECF244321}">
                <p14:modId xmlns:p14="http://schemas.microsoft.com/office/powerpoint/2010/main" val="4041747802"/>
              </p:ext>
            </p:extLst>
          </p:nvPr>
        </p:nvGraphicFramePr>
        <p:xfrm>
          <a:off x="1141413" y="2418820"/>
          <a:ext cx="9906000" cy="31427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123265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8E609-30AD-E1F3-30C3-B467DDA2918B}"/>
              </a:ext>
            </a:extLst>
          </p:cNvPr>
          <p:cNvSpPr>
            <a:spLocks noGrp="1"/>
          </p:cNvSpPr>
          <p:nvPr>
            <p:ph type="title"/>
          </p:nvPr>
        </p:nvSpPr>
        <p:spPr>
          <a:xfrm>
            <a:off x="1143001" y="0"/>
            <a:ext cx="9905998" cy="1478570"/>
          </a:xfrm>
        </p:spPr>
        <p:txBody>
          <a:bodyPr/>
          <a:lstStyle/>
          <a:p>
            <a:pPr algn="ctr"/>
            <a:r>
              <a:rPr lang="en-US" dirty="0"/>
              <a:t>System Architecture</a:t>
            </a:r>
          </a:p>
        </p:txBody>
      </p:sp>
      <p:pic>
        <p:nvPicPr>
          <p:cNvPr id="5" name="Content Placeholder 4">
            <a:extLst>
              <a:ext uri="{FF2B5EF4-FFF2-40B4-BE49-F238E27FC236}">
                <a16:creationId xmlns:a16="http://schemas.microsoft.com/office/drawing/2014/main" id="{E1580A0E-BA99-A925-3C78-31E2F7097C7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45920" y="739285"/>
            <a:ext cx="8694803" cy="6204767"/>
          </a:xfrm>
          <a:prstGeom prst="rect">
            <a:avLst/>
          </a:prstGeom>
        </p:spPr>
      </p:pic>
    </p:spTree>
    <p:extLst>
      <p:ext uri="{BB962C8B-B14F-4D97-AF65-F5344CB8AC3E}">
        <p14:creationId xmlns:p14="http://schemas.microsoft.com/office/powerpoint/2010/main" val="40844058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BE62A68-92FB-4DA6-B1D6-FA043544A9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a:effectLst>
            <a:outerShdw blurRad="76200" dist="38100" algn="l" rotWithShape="0">
              <a:prstClr val="black">
                <a:alpha val="37000"/>
              </a:prstClr>
            </a:outerShdw>
          </a:effectLst>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10A6DFCC-5864-48A7-8196-CBCF038BB8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2783" y="0"/>
            <a:ext cx="12188952" cy="6858000"/>
          </a:xfrm>
          <a:prstGeom prst="rect">
            <a:avLst/>
          </a:prstGeom>
          <a:noFill/>
          <a:extLst>
            <a:ext uri="{909E8E84-426E-40dd-AFC4-6F175D3DCCD1}">
              <a14:hiddenFill xmlns="" xmlns:a16="http://schemas.microsoft.com/office/drawing/2014/main" xmlns:p14="http://schemas.microsoft.com/office/powerpoint/2010/main" xmlns:dgm="http://schemas.openxmlformats.org/drawingml/2006/diagram"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03CA880E-A155-41A2-B87D-21AC3CE333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bg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AD179668-A46F-4D4C-8C75-2F3B4B5787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0DB283C2-E19A-4A75-909F-450DB72DEC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B674E08A-09B5-42AD-805C-43DAE1D0BE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17" name="Freeform 8">
              <a:extLst>
                <a:ext uri="{FF2B5EF4-FFF2-40B4-BE49-F238E27FC236}">
                  <a16:creationId xmlns:a16="http://schemas.microsoft.com/office/drawing/2014/main" id="{248B903F-D11E-41B4-A6F7-5ACF56D76B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18" name="Freeform 9">
              <a:extLst>
                <a:ext uri="{FF2B5EF4-FFF2-40B4-BE49-F238E27FC236}">
                  <a16:creationId xmlns:a16="http://schemas.microsoft.com/office/drawing/2014/main" id="{68B65942-DED3-475B-B28D-839E15541C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54C02C20-8E50-4D5F-9E89-7266186B1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057C79DE-C22B-4732-B921-1EEF64DAD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21E55FE5-F856-4E6D-A505-4A5AA92FC2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564ACC84-D8A2-43FB-AB43-D7A892AC83B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33DE6074-A243-4841-8A21-41739E524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6AD73007-A6A4-498E-8AF9-C3F7D61DCD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5" name="Line 16">
              <a:extLst>
                <a:ext uri="{FF2B5EF4-FFF2-40B4-BE49-F238E27FC236}">
                  <a16:creationId xmlns:a16="http://schemas.microsoft.com/office/drawing/2014/main" id="{541BFD40-70B0-48BA-9216-9C67411F450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6" name="Freeform 17">
              <a:extLst>
                <a:ext uri="{FF2B5EF4-FFF2-40B4-BE49-F238E27FC236}">
                  <a16:creationId xmlns:a16="http://schemas.microsoft.com/office/drawing/2014/main" id="{7DFC59A5-0E43-4308-8BFB-F505CFB549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0852232F-7FE7-4B61-AC34-F29289DAC7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F2467A7F-F122-4464-A682-8C4DB1DA1E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2178D569-0695-49D6-8261-1BF6E2E48F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0" name="Rectangle 21">
              <a:extLst>
                <a:ext uri="{FF2B5EF4-FFF2-40B4-BE49-F238E27FC236}">
                  <a16:creationId xmlns:a16="http://schemas.microsoft.com/office/drawing/2014/main" id="{E289FFF1-2E96-4F4A-94D2-D1FED6AE8AA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n-US"/>
            </a:p>
          </p:txBody>
        </p:sp>
        <p:sp>
          <p:nvSpPr>
            <p:cNvPr id="31" name="Freeform 22">
              <a:extLst>
                <a:ext uri="{FF2B5EF4-FFF2-40B4-BE49-F238E27FC236}">
                  <a16:creationId xmlns:a16="http://schemas.microsoft.com/office/drawing/2014/main" id="{F0509D92-D47A-49BC-899A-0C2AB53BC6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606E419B-186B-4DA7-95FA-F921A2D3FC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35DBBAC4-A0DC-44A6-A64F-3FF22BC30B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45359546-A3CF-4560-869D-4C642B0F754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A9D2DDA1-3EE0-4B5E-8107-6000BCB2B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6DA22C48-18EA-47BE-B75A-9594E025BE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411A5F9B-C5BD-4FE0-BEE1-5FA9B82FB3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AFFCFD60-FB34-408B-A2EA-311A1093D0E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72B9EBCA-3EF6-4296-80E0-CD849B27E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CC021197-0DB7-42B6-93BB-32252A93738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FDD06E83-D9B0-534D-A0E7-732442863325}"/>
              </a:ext>
            </a:extLst>
          </p:cNvPr>
          <p:cNvSpPr>
            <a:spLocks noGrp="1"/>
          </p:cNvSpPr>
          <p:nvPr>
            <p:ph type="title"/>
          </p:nvPr>
        </p:nvSpPr>
        <p:spPr>
          <a:xfrm>
            <a:off x="853330" y="1254035"/>
            <a:ext cx="2926190" cy="4002222"/>
          </a:xfrm>
        </p:spPr>
        <p:txBody>
          <a:bodyPr>
            <a:normAutofit/>
          </a:bodyPr>
          <a:lstStyle/>
          <a:p>
            <a:r>
              <a:rPr lang="en-US" dirty="0">
                <a:solidFill>
                  <a:srgbClr val="FFFFFF"/>
                </a:solidFill>
              </a:rPr>
              <a:t>Distributed ML Pipeline </a:t>
            </a:r>
          </a:p>
        </p:txBody>
      </p:sp>
      <p:sp useBgFill="1">
        <p:nvSpPr>
          <p:cNvPr id="42" name="Round Diagonal Corner Rectangle 6">
            <a:extLst>
              <a:ext uri="{FF2B5EF4-FFF2-40B4-BE49-F238E27FC236}">
                <a16:creationId xmlns:a16="http://schemas.microsoft.com/office/drawing/2014/main" id="{7C30BDFE-E13B-4CD1-9371-FAEDFF80CD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853439"/>
            <a:ext cx="6987476" cy="4760505"/>
          </a:xfrm>
          <a:prstGeom prst="round2DiagRect">
            <a:avLst>
              <a:gd name="adj1" fmla="val 7418"/>
              <a:gd name="adj2" fmla="val 0"/>
            </a:avLst>
          </a:prstGeom>
          <a:ln w="19050" cap="sq">
            <a:solidFill>
              <a:schemeClr val="bg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A847D4E2-EA7B-40EF-8062-D1FAF838F6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79200" y="0"/>
            <a:ext cx="674688" cy="6848476"/>
            <a:chOff x="11364912" y="0"/>
            <a:chExt cx="674688" cy="6848476"/>
          </a:xfrm>
          <a:gradFill flip="none" rotWithShape="1">
            <a:gsLst>
              <a:gs pos="0">
                <a:schemeClr val="bg2"/>
              </a:gs>
              <a:gs pos="100000">
                <a:schemeClr val="bg2">
                  <a:lumMod val="60000"/>
                  <a:lumOff val="40000"/>
                  <a:alpha val="60000"/>
                </a:schemeClr>
              </a:gs>
            </a:gsLst>
            <a:lin ang="5400000" scaled="0"/>
            <a:tileRect/>
          </a:gradFill>
        </p:grpSpPr>
        <p:sp>
          <p:nvSpPr>
            <p:cNvPr id="45" name="Freeform 32">
              <a:extLst>
                <a:ext uri="{FF2B5EF4-FFF2-40B4-BE49-F238E27FC236}">
                  <a16:creationId xmlns:a16="http://schemas.microsoft.com/office/drawing/2014/main" id="{F1549F3B-53A1-4D15-8E8E-4297D91B8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46" name="Freeform 33">
              <a:extLst>
                <a:ext uri="{FF2B5EF4-FFF2-40B4-BE49-F238E27FC236}">
                  <a16:creationId xmlns:a16="http://schemas.microsoft.com/office/drawing/2014/main" id="{841347B2-F767-433C-946A-1B19B4C40EB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47" name="Freeform 34">
              <a:extLst>
                <a:ext uri="{FF2B5EF4-FFF2-40B4-BE49-F238E27FC236}">
                  <a16:creationId xmlns:a16="http://schemas.microsoft.com/office/drawing/2014/main" id="{B34A4847-B6CA-4001-8EB1-33B3854A44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48" name="Freeform 35">
              <a:extLst>
                <a:ext uri="{FF2B5EF4-FFF2-40B4-BE49-F238E27FC236}">
                  <a16:creationId xmlns:a16="http://schemas.microsoft.com/office/drawing/2014/main" id="{EF334B32-D0A0-45DE-99CB-37A3E56ECE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49" name="Freeform 36">
              <a:extLst>
                <a:ext uri="{FF2B5EF4-FFF2-40B4-BE49-F238E27FC236}">
                  <a16:creationId xmlns:a16="http://schemas.microsoft.com/office/drawing/2014/main" id="{5D1098DF-5812-4A6F-A4B7-AFEBEDA983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50" name="Freeform 37">
              <a:extLst>
                <a:ext uri="{FF2B5EF4-FFF2-40B4-BE49-F238E27FC236}">
                  <a16:creationId xmlns:a16="http://schemas.microsoft.com/office/drawing/2014/main" id="{2A72CC5D-2EA1-4ABD-B694-045401D7F2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51" name="Freeform 38">
              <a:extLst>
                <a:ext uri="{FF2B5EF4-FFF2-40B4-BE49-F238E27FC236}">
                  <a16:creationId xmlns:a16="http://schemas.microsoft.com/office/drawing/2014/main" id="{47B8C57D-403F-4D5B-9724-24276E99B44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52" name="Freeform 39">
              <a:extLst>
                <a:ext uri="{FF2B5EF4-FFF2-40B4-BE49-F238E27FC236}">
                  <a16:creationId xmlns:a16="http://schemas.microsoft.com/office/drawing/2014/main" id="{4890E5D3-F793-4B6A-AA8F-1F6C03BD1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53" name="Freeform 40">
              <a:extLst>
                <a:ext uri="{FF2B5EF4-FFF2-40B4-BE49-F238E27FC236}">
                  <a16:creationId xmlns:a16="http://schemas.microsoft.com/office/drawing/2014/main" id="{68A2FE4A-346D-4EA5-B377-EED4515161C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round/>
                  <a:headEnd/>
                  <a:tailEnd/>
                </a14:hiddenLine>
              </a:ext>
            </a:extLst>
          </p:spPr>
          <p:txBody>
            <a:bodyPr/>
            <a:lstStyle/>
            <a:p>
              <a:endParaRPr lang="en-US"/>
            </a:p>
          </p:txBody>
        </p:sp>
        <p:sp>
          <p:nvSpPr>
            <p:cNvPr id="54" name="Rectangle 41">
              <a:extLst>
                <a:ext uri="{FF2B5EF4-FFF2-40B4-BE49-F238E27FC236}">
                  <a16:creationId xmlns:a16="http://schemas.microsoft.com/office/drawing/2014/main" id="{2F12D5D5-9BB1-4D89-B5B4-8F8353825B7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dgm="http://schemas.openxmlformats.org/drawingml/2006/diagram" xmlns:a14="http://schemas.microsoft.com/office/drawing/2010/main" w="9525">
                  <a:solidFill>
                    <a:srgbClr val="000000"/>
                  </a:solidFill>
                  <a:miter lim="800000"/>
                  <a:headEnd/>
                  <a:tailEnd/>
                </a14:hiddenLine>
              </a:ext>
            </a:extLst>
          </p:spPr>
          <p:txBody>
            <a:bodyPr/>
            <a:lstStyle/>
            <a:p>
              <a:endParaRPr lang="en-US"/>
            </a:p>
          </p:txBody>
        </p:sp>
      </p:grpSp>
      <p:graphicFrame>
        <p:nvGraphicFramePr>
          <p:cNvPr id="4" name="Content Placeholder 3">
            <a:extLst>
              <a:ext uri="{FF2B5EF4-FFF2-40B4-BE49-F238E27FC236}">
                <a16:creationId xmlns:a16="http://schemas.microsoft.com/office/drawing/2014/main" id="{65630491-A687-58FB-2E75-7BDFD82416CE}"/>
              </a:ext>
            </a:extLst>
          </p:cNvPr>
          <p:cNvGraphicFramePr>
            <a:graphicFrameLocks noGrp="1"/>
          </p:cNvGraphicFramePr>
          <p:nvPr>
            <p:ph idx="1"/>
          </p:nvPr>
        </p:nvGraphicFramePr>
        <p:xfrm>
          <a:off x="4433502" y="1254035"/>
          <a:ext cx="6277202" cy="4002225"/>
        </p:xfrm>
        <a:graphic>
          <a:graphicData uri="http://schemas.openxmlformats.org/drawingml/2006/table">
            <a:tbl>
              <a:tblPr firstRow="1" bandRow="1">
                <a:noFill/>
                <a:tableStyleId>{616DA210-FB5B-4158-B5E0-FEB733F419BA}</a:tableStyleId>
              </a:tblPr>
              <a:tblGrid>
                <a:gridCol w="1096802">
                  <a:extLst>
                    <a:ext uri="{9D8B030D-6E8A-4147-A177-3AD203B41FA5}">
                      <a16:colId xmlns:a16="http://schemas.microsoft.com/office/drawing/2014/main" val="2104829308"/>
                    </a:ext>
                  </a:extLst>
                </a:gridCol>
                <a:gridCol w="2151580">
                  <a:extLst>
                    <a:ext uri="{9D8B030D-6E8A-4147-A177-3AD203B41FA5}">
                      <a16:colId xmlns:a16="http://schemas.microsoft.com/office/drawing/2014/main" val="2655876137"/>
                    </a:ext>
                  </a:extLst>
                </a:gridCol>
                <a:gridCol w="3028820">
                  <a:extLst>
                    <a:ext uri="{9D8B030D-6E8A-4147-A177-3AD203B41FA5}">
                      <a16:colId xmlns:a16="http://schemas.microsoft.com/office/drawing/2014/main" val="4012441933"/>
                    </a:ext>
                  </a:extLst>
                </a:gridCol>
              </a:tblGrid>
              <a:tr h="573465">
                <a:tc>
                  <a:txBody>
                    <a:bodyPr/>
                    <a:lstStyle/>
                    <a:p>
                      <a:pPr>
                        <a:buNone/>
                      </a:pPr>
                      <a:r>
                        <a:rPr lang="en-US" sz="2100" b="1" cap="none" spc="0">
                          <a:solidFill>
                            <a:schemeClr val="tx1"/>
                          </a:solidFill>
                        </a:rPr>
                        <a:t>Stage</a:t>
                      </a:r>
                    </a:p>
                  </a:txBody>
                  <a:tcPr marL="84215" marR="120307" marT="24061" marB="180461" anchor="b">
                    <a:lnL w="12700" cmpd="sng">
                      <a:noFill/>
                    </a:lnL>
                    <a:lnR w="12700" cmpd="sng">
                      <a:noFill/>
                    </a:lnR>
                    <a:lnT w="9525" cap="flat" cmpd="sng" algn="ctr">
                      <a:noFill/>
                      <a:prstDash val="solid"/>
                    </a:lnT>
                    <a:lnB w="38100" cmpd="sng">
                      <a:noFill/>
                    </a:lnB>
                    <a:noFill/>
                  </a:tcPr>
                </a:tc>
                <a:tc>
                  <a:txBody>
                    <a:bodyPr/>
                    <a:lstStyle/>
                    <a:p>
                      <a:pPr>
                        <a:buNone/>
                      </a:pPr>
                      <a:r>
                        <a:rPr lang="en-US" sz="2100" b="1" cap="none" spc="0">
                          <a:solidFill>
                            <a:schemeClr val="tx1"/>
                          </a:solidFill>
                        </a:rPr>
                        <a:t>Component</a:t>
                      </a:r>
                    </a:p>
                  </a:txBody>
                  <a:tcPr marL="84215" marR="120307" marT="24061" marB="180461" anchor="b">
                    <a:lnL w="12700" cmpd="sng">
                      <a:noFill/>
                    </a:lnL>
                    <a:lnR w="12700" cmpd="sng">
                      <a:noFill/>
                    </a:lnR>
                    <a:lnT w="9525" cap="flat" cmpd="sng" algn="ctr">
                      <a:noFill/>
                      <a:prstDash val="solid"/>
                    </a:lnT>
                    <a:lnB w="38100" cmpd="sng">
                      <a:noFill/>
                    </a:lnB>
                    <a:noFill/>
                  </a:tcPr>
                </a:tc>
                <a:tc>
                  <a:txBody>
                    <a:bodyPr/>
                    <a:lstStyle/>
                    <a:p>
                      <a:pPr>
                        <a:buNone/>
                      </a:pPr>
                      <a:r>
                        <a:rPr lang="en-US" sz="2100" b="1" cap="none" spc="0">
                          <a:solidFill>
                            <a:schemeClr val="tx1"/>
                          </a:solidFill>
                        </a:rPr>
                        <a:t>Purpose</a:t>
                      </a:r>
                    </a:p>
                  </a:txBody>
                  <a:tcPr marL="84215" marR="120307" marT="24061" marB="180461"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694068669"/>
                  </a:ext>
                </a:extLst>
              </a:tr>
              <a:tr h="733875">
                <a:tc>
                  <a:txBody>
                    <a:bodyPr/>
                    <a:lstStyle/>
                    <a:p>
                      <a:pPr>
                        <a:buNone/>
                      </a:pPr>
                      <a:r>
                        <a:rPr lang="en-US" sz="1600" cap="none" spc="0">
                          <a:solidFill>
                            <a:schemeClr val="tx1"/>
                          </a:solidFill>
                        </a:rPr>
                        <a:t>1</a:t>
                      </a:r>
                    </a:p>
                  </a:txBody>
                  <a:tcPr marL="84215" marR="120307" marT="24061" marB="180461"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a:buNone/>
                      </a:pPr>
                      <a:r>
                        <a:rPr lang="en-US" sz="1600" cap="none" spc="0">
                          <a:solidFill>
                            <a:schemeClr val="tx1"/>
                          </a:solidFill>
                        </a:rPr>
                        <a:t>Tokenizer</a:t>
                      </a:r>
                    </a:p>
                  </a:txBody>
                  <a:tcPr marL="84215" marR="120307" marT="24061" marB="180461" anchor="ctr">
                    <a:lnL w="12700" cmpd="sng">
                      <a:noFill/>
                      <a:prstDash val="solid"/>
                    </a:lnL>
                    <a:lnR w="12700" cmpd="sng">
                      <a:noFill/>
                      <a:prstDash val="solid"/>
                    </a:lnR>
                    <a:lnT w="38100" cmpd="sng">
                      <a:noFill/>
                    </a:lnT>
                    <a:lnB w="9525" cap="flat" cmpd="sng" algn="ctr">
                      <a:noFill/>
                      <a:prstDash val="solid"/>
                    </a:lnB>
                    <a:noFill/>
                  </a:tcPr>
                </a:tc>
                <a:tc>
                  <a:txBody>
                    <a:bodyPr/>
                    <a:lstStyle/>
                    <a:p>
                      <a:pPr>
                        <a:buNone/>
                      </a:pPr>
                      <a:r>
                        <a:rPr lang="en-US" sz="1600" cap="none" spc="0">
                          <a:solidFill>
                            <a:schemeClr val="tx1"/>
                          </a:solidFill>
                        </a:rPr>
                        <a:t>Split review text into individual words</a:t>
                      </a:r>
                    </a:p>
                  </a:txBody>
                  <a:tcPr marL="84215" marR="120307" marT="24061" marB="180461"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1233135073"/>
                  </a:ext>
                </a:extLst>
              </a:tr>
              <a:tr h="733875">
                <a:tc>
                  <a:txBody>
                    <a:bodyPr/>
                    <a:lstStyle/>
                    <a:p>
                      <a:pPr>
                        <a:buNone/>
                      </a:pPr>
                      <a:r>
                        <a:rPr lang="en-US" sz="1600" cap="none" spc="0">
                          <a:solidFill>
                            <a:schemeClr val="tx1"/>
                          </a:solidFill>
                        </a:rPr>
                        <a:t>2</a:t>
                      </a:r>
                    </a:p>
                  </a:txBody>
                  <a:tcPr marL="84215" marR="120307" marT="24061" marB="180461"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StopWordsRemover</a:t>
                      </a:r>
                    </a:p>
                  </a:txBody>
                  <a:tcPr marL="84215" marR="120307" marT="24061" marB="180461"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Filter uninformative common words</a:t>
                      </a:r>
                    </a:p>
                  </a:txBody>
                  <a:tcPr marL="84215" marR="120307" marT="24061" marB="180461"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354748382"/>
                  </a:ext>
                </a:extLst>
              </a:tr>
              <a:tr h="733875">
                <a:tc>
                  <a:txBody>
                    <a:bodyPr/>
                    <a:lstStyle/>
                    <a:p>
                      <a:pPr>
                        <a:buNone/>
                      </a:pPr>
                      <a:r>
                        <a:rPr lang="en-US" sz="1600" cap="none" spc="0">
                          <a:solidFill>
                            <a:schemeClr val="tx1"/>
                          </a:solidFill>
                        </a:rPr>
                        <a:t>3</a:t>
                      </a:r>
                    </a:p>
                  </a:txBody>
                  <a:tcPr marL="84215" marR="120307" marT="24061" marB="180461"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a:buNone/>
                      </a:pPr>
                      <a:r>
                        <a:rPr lang="en-US" sz="1600" cap="none" spc="0">
                          <a:solidFill>
                            <a:schemeClr val="tx1"/>
                          </a:solidFill>
                        </a:rPr>
                        <a:t>HashingTF</a:t>
                      </a:r>
                    </a:p>
                  </a:txBody>
                  <a:tcPr marL="84215" marR="120307" marT="24061" marB="180461"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a:buNone/>
                      </a:pPr>
                      <a:r>
                        <a:rPr lang="en-US" sz="1600" cap="none" spc="0">
                          <a:solidFill>
                            <a:schemeClr val="tx1"/>
                          </a:solidFill>
                        </a:rPr>
                        <a:t>Convert words to numerical feature vectors</a:t>
                      </a:r>
                    </a:p>
                  </a:txBody>
                  <a:tcPr marL="84215" marR="120307" marT="24061" marB="180461"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4419456"/>
                  </a:ext>
                </a:extLst>
              </a:tr>
              <a:tr h="733875">
                <a:tc>
                  <a:txBody>
                    <a:bodyPr/>
                    <a:lstStyle/>
                    <a:p>
                      <a:pPr>
                        <a:buNone/>
                      </a:pPr>
                      <a:r>
                        <a:rPr lang="en-US" sz="1600" cap="none" spc="0">
                          <a:solidFill>
                            <a:schemeClr val="tx1"/>
                          </a:solidFill>
                        </a:rPr>
                        <a:t>4</a:t>
                      </a:r>
                    </a:p>
                  </a:txBody>
                  <a:tcPr marL="84215" marR="120307" marT="24061" marB="180461"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IDF</a:t>
                      </a:r>
                    </a:p>
                  </a:txBody>
                  <a:tcPr marL="84215" marR="120307" marT="24061" marB="180461"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a:buNone/>
                      </a:pPr>
                      <a:r>
                        <a:rPr lang="en-US" sz="1600" cap="none" spc="0">
                          <a:solidFill>
                            <a:schemeClr val="tx1"/>
                          </a:solidFill>
                        </a:rPr>
                        <a:t>Weight terms by importance across corpus</a:t>
                      </a:r>
                    </a:p>
                  </a:txBody>
                  <a:tcPr marL="84215" marR="120307" marT="24061" marB="180461"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098895387"/>
                  </a:ext>
                </a:extLst>
              </a:tr>
              <a:tr h="493260">
                <a:tc>
                  <a:txBody>
                    <a:bodyPr/>
                    <a:lstStyle/>
                    <a:p>
                      <a:pPr>
                        <a:buNone/>
                      </a:pPr>
                      <a:r>
                        <a:rPr lang="en-US" sz="1600" cap="none" spc="0">
                          <a:solidFill>
                            <a:schemeClr val="tx1"/>
                          </a:solidFill>
                        </a:rPr>
                        <a:t>5</a:t>
                      </a:r>
                    </a:p>
                  </a:txBody>
                  <a:tcPr marL="84215" marR="120307" marT="24061" marB="180461"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Logistic Regression</a:t>
                      </a:r>
                    </a:p>
                  </a:txBody>
                  <a:tcPr marL="84215" marR="120307" marT="24061" marB="180461" anchor="ctr">
                    <a:lnL w="12700" cmpd="sng">
                      <a:noFill/>
                      <a:prstDash val="solid"/>
                    </a:lnL>
                    <a:lnR w="12700" cmpd="sng">
                      <a:noFill/>
                      <a:prstDash val="solid"/>
                    </a:lnR>
                    <a:lnT w="12700" cmpd="sng">
                      <a:noFill/>
                      <a:prstDash val="solid"/>
                    </a:lnT>
                    <a:lnB w="12700" cmpd="sng">
                      <a:noFill/>
                      <a:prstDash val="solid"/>
                    </a:lnB>
                    <a:noFill/>
                  </a:tcPr>
                </a:tc>
                <a:tc>
                  <a:txBody>
                    <a:bodyPr/>
                    <a:lstStyle/>
                    <a:p>
                      <a:pPr>
                        <a:buNone/>
                      </a:pPr>
                      <a:r>
                        <a:rPr lang="en-US" sz="1600" cap="none" spc="0">
                          <a:solidFill>
                            <a:schemeClr val="tx1"/>
                          </a:solidFill>
                        </a:rPr>
                        <a:t>Binary sentiment classification</a:t>
                      </a:r>
                    </a:p>
                  </a:txBody>
                  <a:tcPr marL="84215" marR="120307" marT="24061" marB="180461"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45660511"/>
                  </a:ext>
                </a:extLst>
              </a:tr>
            </a:tbl>
          </a:graphicData>
        </a:graphic>
      </p:graphicFrame>
    </p:spTree>
    <p:extLst>
      <p:ext uri="{BB962C8B-B14F-4D97-AF65-F5344CB8AC3E}">
        <p14:creationId xmlns:p14="http://schemas.microsoft.com/office/powerpoint/2010/main" val="12327478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A6C0-36F7-1E54-F275-DC11D29DB738}"/>
              </a:ext>
            </a:extLst>
          </p:cNvPr>
          <p:cNvSpPr>
            <a:spLocks noGrp="1"/>
          </p:cNvSpPr>
          <p:nvPr>
            <p:ph type="title"/>
          </p:nvPr>
        </p:nvSpPr>
        <p:spPr/>
        <p:txBody>
          <a:bodyPr/>
          <a:lstStyle/>
          <a:p>
            <a:r>
              <a:rPr lang="en-US" dirty="0"/>
              <a:t>Class distribution &amp; training/validation</a:t>
            </a:r>
          </a:p>
        </p:txBody>
      </p:sp>
      <p:sp>
        <p:nvSpPr>
          <p:cNvPr id="7" name="Rectangle: Rounded Corners 6">
            <a:extLst>
              <a:ext uri="{FF2B5EF4-FFF2-40B4-BE49-F238E27FC236}">
                <a16:creationId xmlns:a16="http://schemas.microsoft.com/office/drawing/2014/main" id="{F5E9D2FB-F26D-4802-9017-29025313557D}"/>
              </a:ext>
            </a:extLst>
          </p:cNvPr>
          <p:cNvSpPr/>
          <p:nvPr/>
        </p:nvSpPr>
        <p:spPr>
          <a:xfrm>
            <a:off x="533400" y="2133600"/>
            <a:ext cx="5461000" cy="457200"/>
          </a:xfrm>
          <a:prstGeom prst="roundRect">
            <a:avLst/>
          </a:prstGeom>
          <a:solidFill>
            <a:srgbClr val="1A6B4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Tw Cen MT"/>
              </a:rPr>
              <a:t>Class Distribution</a:t>
            </a:r>
          </a:p>
        </p:txBody>
      </p:sp>
      <p:graphicFrame>
        <p:nvGraphicFramePr>
          <p:cNvPr id="9" name="Table 8">
            <a:extLst>
              <a:ext uri="{FF2B5EF4-FFF2-40B4-BE49-F238E27FC236}">
                <a16:creationId xmlns:a16="http://schemas.microsoft.com/office/drawing/2014/main" id="{AAB82215-C08F-4431-9346-B5E4E3F876D8}"/>
              </a:ext>
            </a:extLst>
          </p:cNvPr>
          <p:cNvGraphicFramePr>
            <a:graphicFrameLocks noGrp="1"/>
          </p:cNvGraphicFramePr>
          <p:nvPr/>
        </p:nvGraphicFramePr>
        <p:xfrm>
          <a:off x="533400" y="2641600"/>
          <a:ext cx="5460999" cy="1651000"/>
        </p:xfrm>
        <a:graphic>
          <a:graphicData uri="http://schemas.openxmlformats.org/drawingml/2006/table">
            <a:tbl>
              <a:tblPr firstRow="1" bandRow="1">
                <a:tableStyleId>{5C22544A-7EE6-4342-B048-85BDC9FD1C3A}</a:tableStyleId>
              </a:tblPr>
              <a:tblGrid>
                <a:gridCol w="1820333">
                  <a:extLst>
                    <a:ext uri="{9D8B030D-6E8A-4147-A177-3AD203B41FA5}">
                      <a16:colId xmlns:a16="http://schemas.microsoft.com/office/drawing/2014/main" val="2924898620"/>
                    </a:ext>
                  </a:extLst>
                </a:gridCol>
                <a:gridCol w="1820333">
                  <a:extLst>
                    <a:ext uri="{9D8B030D-6E8A-4147-A177-3AD203B41FA5}">
                      <a16:colId xmlns:a16="http://schemas.microsoft.com/office/drawing/2014/main" val="2415865355"/>
                    </a:ext>
                  </a:extLst>
                </a:gridCol>
                <a:gridCol w="1820333">
                  <a:extLst>
                    <a:ext uri="{9D8B030D-6E8A-4147-A177-3AD203B41FA5}">
                      <a16:colId xmlns:a16="http://schemas.microsoft.com/office/drawing/2014/main" val="3761261192"/>
                    </a:ext>
                  </a:extLst>
                </a:gridCol>
              </a:tblGrid>
              <a:tr h="412750">
                <a:tc>
                  <a:txBody>
                    <a:bodyPr/>
                    <a:lstStyle/>
                    <a:p>
                      <a:pPr algn="ctr"/>
                      <a:r>
                        <a:rPr lang="en-US" sz="1100" b="1">
                          <a:solidFill>
                            <a:srgbClr val="FFFFFF"/>
                          </a:solidFill>
                          <a:latin typeface="Tw Cen MT"/>
                        </a:rPr>
                        <a:t>Dataset Size</a:t>
                      </a:r>
                    </a:p>
                  </a:txBody>
                  <a:tcPr anchor="ctr">
                    <a:solidFill>
                      <a:srgbClr val="1A6B44"/>
                    </a:solidFill>
                  </a:tcPr>
                </a:tc>
                <a:tc>
                  <a:txBody>
                    <a:bodyPr/>
                    <a:lstStyle/>
                    <a:p>
                      <a:pPr algn="ctr"/>
                      <a:r>
                        <a:rPr lang="en-US" sz="1100" b="1">
                          <a:solidFill>
                            <a:srgbClr val="FFFFFF"/>
                          </a:solidFill>
                          <a:latin typeface="Tw Cen MT"/>
                        </a:rPr>
                        <a:t>Positive</a:t>
                      </a:r>
                    </a:p>
                  </a:txBody>
                  <a:tcPr anchor="ctr">
                    <a:solidFill>
                      <a:srgbClr val="1A6B44"/>
                    </a:solidFill>
                  </a:tcPr>
                </a:tc>
                <a:tc>
                  <a:txBody>
                    <a:bodyPr/>
                    <a:lstStyle/>
                    <a:p>
                      <a:pPr algn="ctr"/>
                      <a:r>
                        <a:rPr lang="en-US" sz="1100" b="1">
                          <a:solidFill>
                            <a:srgbClr val="FFFFFF"/>
                          </a:solidFill>
                          <a:latin typeface="Tw Cen MT"/>
                        </a:rPr>
                        <a:t>Negative</a:t>
                      </a:r>
                    </a:p>
                  </a:txBody>
                  <a:tcPr anchor="ctr">
                    <a:solidFill>
                      <a:srgbClr val="1A6B44"/>
                    </a:solidFill>
                  </a:tcPr>
                </a:tc>
                <a:extLst>
                  <a:ext uri="{0D108BD9-81ED-4DB2-BD59-A6C34878D82A}">
                    <a16:rowId xmlns:a16="http://schemas.microsoft.com/office/drawing/2014/main" val="299094046"/>
                  </a:ext>
                </a:extLst>
              </a:tr>
              <a:tr h="412750">
                <a:tc>
                  <a:txBody>
                    <a:bodyPr/>
                    <a:lstStyle/>
                    <a:p>
                      <a:pPr algn="ctr"/>
                      <a:r>
                        <a:rPr lang="en-US" sz="1100">
                          <a:solidFill>
                            <a:srgbClr val="252C36"/>
                          </a:solidFill>
                          <a:latin typeface="Tw Cen MT"/>
                        </a:rPr>
                        <a:t>50,000</a:t>
                      </a:r>
                    </a:p>
                  </a:txBody>
                  <a:tcPr anchor="ctr">
                    <a:solidFill>
                      <a:srgbClr val="FFFFFF"/>
                    </a:solidFill>
                  </a:tcPr>
                </a:tc>
                <a:tc>
                  <a:txBody>
                    <a:bodyPr/>
                    <a:lstStyle/>
                    <a:p>
                      <a:pPr algn="ctr"/>
                      <a:r>
                        <a:rPr lang="en-US" sz="1100">
                          <a:solidFill>
                            <a:srgbClr val="252C36"/>
                          </a:solidFill>
                          <a:latin typeface="Tw Cen MT"/>
                        </a:rPr>
                        <a:t>40,070</a:t>
                      </a:r>
                    </a:p>
                  </a:txBody>
                  <a:tcPr anchor="ctr">
                    <a:solidFill>
                      <a:srgbClr val="FFFFFF"/>
                    </a:solidFill>
                  </a:tcPr>
                </a:tc>
                <a:tc>
                  <a:txBody>
                    <a:bodyPr/>
                    <a:lstStyle/>
                    <a:p>
                      <a:pPr algn="ctr"/>
                      <a:r>
                        <a:rPr lang="en-US" sz="1100">
                          <a:solidFill>
                            <a:srgbClr val="252C36"/>
                          </a:solidFill>
                          <a:latin typeface="Tw Cen MT"/>
                        </a:rPr>
                        <a:t>5,987</a:t>
                      </a:r>
                    </a:p>
                  </a:txBody>
                  <a:tcPr anchor="ctr">
                    <a:solidFill>
                      <a:srgbClr val="FFFFFF"/>
                    </a:solidFill>
                  </a:tcPr>
                </a:tc>
                <a:extLst>
                  <a:ext uri="{0D108BD9-81ED-4DB2-BD59-A6C34878D82A}">
                    <a16:rowId xmlns:a16="http://schemas.microsoft.com/office/drawing/2014/main" val="1909341279"/>
                  </a:ext>
                </a:extLst>
              </a:tr>
              <a:tr h="412750">
                <a:tc>
                  <a:txBody>
                    <a:bodyPr/>
                    <a:lstStyle/>
                    <a:p>
                      <a:pPr algn="ctr"/>
                      <a:r>
                        <a:rPr lang="en-US" sz="1100">
                          <a:solidFill>
                            <a:srgbClr val="252C36"/>
                          </a:solidFill>
                          <a:latin typeface="Tw Cen MT"/>
                        </a:rPr>
                        <a:t>100,000</a:t>
                      </a:r>
                    </a:p>
                  </a:txBody>
                  <a:tcPr anchor="ctr">
                    <a:solidFill>
                      <a:srgbClr val="F0F8F4"/>
                    </a:solidFill>
                  </a:tcPr>
                </a:tc>
                <a:tc>
                  <a:txBody>
                    <a:bodyPr/>
                    <a:lstStyle/>
                    <a:p>
                      <a:pPr algn="ctr"/>
                      <a:r>
                        <a:rPr lang="en-US" sz="1100">
                          <a:solidFill>
                            <a:srgbClr val="252C36"/>
                          </a:solidFill>
                          <a:latin typeface="Tw Cen MT"/>
                        </a:rPr>
                        <a:t>81,542</a:t>
                      </a:r>
                    </a:p>
                  </a:txBody>
                  <a:tcPr anchor="ctr">
                    <a:solidFill>
                      <a:srgbClr val="F0F8F4"/>
                    </a:solidFill>
                  </a:tcPr>
                </a:tc>
                <a:tc>
                  <a:txBody>
                    <a:bodyPr/>
                    <a:lstStyle/>
                    <a:p>
                      <a:pPr algn="ctr"/>
                      <a:r>
                        <a:rPr lang="en-US" sz="1100">
                          <a:solidFill>
                            <a:srgbClr val="252C36"/>
                          </a:solidFill>
                          <a:latin typeface="Tw Cen MT"/>
                        </a:rPr>
                        <a:t>10,839</a:t>
                      </a:r>
                    </a:p>
                  </a:txBody>
                  <a:tcPr anchor="ctr">
                    <a:solidFill>
                      <a:srgbClr val="F0F8F4"/>
                    </a:solidFill>
                  </a:tcPr>
                </a:tc>
                <a:extLst>
                  <a:ext uri="{0D108BD9-81ED-4DB2-BD59-A6C34878D82A}">
                    <a16:rowId xmlns:a16="http://schemas.microsoft.com/office/drawing/2014/main" val="4179684530"/>
                  </a:ext>
                </a:extLst>
              </a:tr>
              <a:tr h="412750">
                <a:tc>
                  <a:txBody>
                    <a:bodyPr/>
                    <a:lstStyle/>
                    <a:p>
                      <a:pPr algn="ctr"/>
                      <a:r>
                        <a:rPr lang="en-US" sz="1100">
                          <a:solidFill>
                            <a:srgbClr val="252C36"/>
                          </a:solidFill>
                          <a:latin typeface="Tw Cen MT"/>
                        </a:rPr>
                        <a:t>250,000</a:t>
                      </a:r>
                    </a:p>
                  </a:txBody>
                  <a:tcPr anchor="ctr">
                    <a:solidFill>
                      <a:srgbClr val="FFFFFF"/>
                    </a:solidFill>
                  </a:tcPr>
                </a:tc>
                <a:tc>
                  <a:txBody>
                    <a:bodyPr/>
                    <a:lstStyle/>
                    <a:p>
                      <a:pPr algn="ctr"/>
                      <a:r>
                        <a:rPr lang="en-US" sz="1100">
                          <a:solidFill>
                            <a:srgbClr val="252C36"/>
                          </a:solidFill>
                          <a:latin typeface="Tw Cen MT"/>
                        </a:rPr>
                        <a:t>205,385</a:t>
                      </a:r>
                    </a:p>
                  </a:txBody>
                  <a:tcPr anchor="ctr">
                    <a:solidFill>
                      <a:srgbClr val="FFFFFF"/>
                    </a:solidFill>
                  </a:tcPr>
                </a:tc>
                <a:tc>
                  <a:txBody>
                    <a:bodyPr/>
                    <a:lstStyle/>
                    <a:p>
                      <a:pPr algn="ctr"/>
                      <a:r>
                        <a:rPr lang="en-US" sz="1100">
                          <a:solidFill>
                            <a:srgbClr val="252C36"/>
                          </a:solidFill>
                          <a:latin typeface="Tw Cen MT"/>
                        </a:rPr>
                        <a:t>26,436</a:t>
                      </a:r>
                    </a:p>
                  </a:txBody>
                  <a:tcPr anchor="ctr">
                    <a:solidFill>
                      <a:srgbClr val="FFFFFF"/>
                    </a:solidFill>
                  </a:tcPr>
                </a:tc>
                <a:extLst>
                  <a:ext uri="{0D108BD9-81ED-4DB2-BD59-A6C34878D82A}">
                    <a16:rowId xmlns:a16="http://schemas.microsoft.com/office/drawing/2014/main" val="699284487"/>
                  </a:ext>
                </a:extLst>
              </a:tr>
            </a:tbl>
          </a:graphicData>
        </a:graphic>
      </p:graphicFrame>
      <p:sp>
        <p:nvSpPr>
          <p:cNvPr id="10" name="Rectangle: Rounded Corners 9">
            <a:extLst>
              <a:ext uri="{FF2B5EF4-FFF2-40B4-BE49-F238E27FC236}">
                <a16:creationId xmlns:a16="http://schemas.microsoft.com/office/drawing/2014/main" id="{485B0B98-52B2-456D-B273-1D9DBB22C44C}"/>
              </a:ext>
            </a:extLst>
          </p:cNvPr>
          <p:cNvSpPr/>
          <p:nvPr/>
        </p:nvSpPr>
        <p:spPr>
          <a:xfrm>
            <a:off x="6324600" y="2133600"/>
            <a:ext cx="5461000" cy="457200"/>
          </a:xfrm>
          <a:prstGeom prst="roundRect">
            <a:avLst/>
          </a:prstGeom>
          <a:solidFill>
            <a:srgbClr val="1B6A8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latin typeface="Tw Cen MT"/>
              </a:rPr>
              <a:t>Training / Validation Split</a:t>
            </a:r>
          </a:p>
        </p:txBody>
      </p:sp>
      <p:graphicFrame>
        <p:nvGraphicFramePr>
          <p:cNvPr id="12" name="Table 11">
            <a:extLst>
              <a:ext uri="{FF2B5EF4-FFF2-40B4-BE49-F238E27FC236}">
                <a16:creationId xmlns:a16="http://schemas.microsoft.com/office/drawing/2014/main" id="{2F4F8946-7330-4735-8E94-D5414EB2396B}"/>
              </a:ext>
            </a:extLst>
          </p:cNvPr>
          <p:cNvGraphicFramePr>
            <a:graphicFrameLocks noGrp="1"/>
          </p:cNvGraphicFramePr>
          <p:nvPr/>
        </p:nvGraphicFramePr>
        <p:xfrm>
          <a:off x="6324600" y="2641600"/>
          <a:ext cx="5460999" cy="1651000"/>
        </p:xfrm>
        <a:graphic>
          <a:graphicData uri="http://schemas.openxmlformats.org/drawingml/2006/table">
            <a:tbl>
              <a:tblPr firstRow="1" bandRow="1">
                <a:tableStyleId>{5C22544A-7EE6-4342-B048-85BDC9FD1C3A}</a:tableStyleId>
              </a:tblPr>
              <a:tblGrid>
                <a:gridCol w="1820333">
                  <a:extLst>
                    <a:ext uri="{9D8B030D-6E8A-4147-A177-3AD203B41FA5}">
                      <a16:colId xmlns:a16="http://schemas.microsoft.com/office/drawing/2014/main" val="2472719453"/>
                    </a:ext>
                  </a:extLst>
                </a:gridCol>
                <a:gridCol w="1820333">
                  <a:extLst>
                    <a:ext uri="{9D8B030D-6E8A-4147-A177-3AD203B41FA5}">
                      <a16:colId xmlns:a16="http://schemas.microsoft.com/office/drawing/2014/main" val="2213742564"/>
                    </a:ext>
                  </a:extLst>
                </a:gridCol>
                <a:gridCol w="1820333">
                  <a:extLst>
                    <a:ext uri="{9D8B030D-6E8A-4147-A177-3AD203B41FA5}">
                      <a16:colId xmlns:a16="http://schemas.microsoft.com/office/drawing/2014/main" val="2622861977"/>
                    </a:ext>
                  </a:extLst>
                </a:gridCol>
              </a:tblGrid>
              <a:tr h="412750">
                <a:tc>
                  <a:txBody>
                    <a:bodyPr/>
                    <a:lstStyle/>
                    <a:p>
                      <a:pPr algn="ctr"/>
                      <a:r>
                        <a:rPr lang="en-US" sz="1100" b="1">
                          <a:solidFill>
                            <a:srgbClr val="FFFFFF"/>
                          </a:solidFill>
                          <a:latin typeface="Tw Cen MT"/>
                        </a:rPr>
                        <a:t>Dataset Size</a:t>
                      </a:r>
                    </a:p>
                  </a:txBody>
                  <a:tcPr anchor="ctr">
                    <a:solidFill>
                      <a:srgbClr val="1B6A86"/>
                    </a:solidFill>
                  </a:tcPr>
                </a:tc>
                <a:tc>
                  <a:txBody>
                    <a:bodyPr/>
                    <a:lstStyle/>
                    <a:p>
                      <a:pPr algn="ctr"/>
                      <a:r>
                        <a:rPr lang="en-US" sz="1100" b="1">
                          <a:solidFill>
                            <a:srgbClr val="FFFFFF"/>
                          </a:solidFill>
                          <a:latin typeface="Tw Cen MT"/>
                        </a:rPr>
                        <a:t>Training Set</a:t>
                      </a:r>
                    </a:p>
                  </a:txBody>
                  <a:tcPr anchor="ctr">
                    <a:solidFill>
                      <a:srgbClr val="1B6A86"/>
                    </a:solidFill>
                  </a:tcPr>
                </a:tc>
                <a:tc>
                  <a:txBody>
                    <a:bodyPr/>
                    <a:lstStyle/>
                    <a:p>
                      <a:pPr algn="ctr"/>
                      <a:r>
                        <a:rPr lang="en-US" sz="1100" b="1">
                          <a:solidFill>
                            <a:srgbClr val="FFFFFF"/>
                          </a:solidFill>
                          <a:latin typeface="Tw Cen MT"/>
                        </a:rPr>
                        <a:t>Validation Set</a:t>
                      </a:r>
                    </a:p>
                  </a:txBody>
                  <a:tcPr anchor="ctr">
                    <a:solidFill>
                      <a:srgbClr val="1B6A86"/>
                    </a:solidFill>
                  </a:tcPr>
                </a:tc>
                <a:extLst>
                  <a:ext uri="{0D108BD9-81ED-4DB2-BD59-A6C34878D82A}">
                    <a16:rowId xmlns:a16="http://schemas.microsoft.com/office/drawing/2014/main" val="3388234235"/>
                  </a:ext>
                </a:extLst>
              </a:tr>
              <a:tr h="412750">
                <a:tc>
                  <a:txBody>
                    <a:bodyPr/>
                    <a:lstStyle/>
                    <a:p>
                      <a:pPr algn="ctr"/>
                      <a:r>
                        <a:rPr lang="en-US" sz="1100">
                          <a:solidFill>
                            <a:srgbClr val="252C36"/>
                          </a:solidFill>
                          <a:latin typeface="Tw Cen MT"/>
                        </a:rPr>
                        <a:t>50,000</a:t>
                      </a:r>
                    </a:p>
                  </a:txBody>
                  <a:tcPr anchor="ctr">
                    <a:solidFill>
                      <a:srgbClr val="FFFFFF"/>
                    </a:solidFill>
                  </a:tcPr>
                </a:tc>
                <a:tc>
                  <a:txBody>
                    <a:bodyPr/>
                    <a:lstStyle/>
                    <a:p>
                      <a:pPr algn="ctr"/>
                      <a:r>
                        <a:rPr lang="en-US" sz="1100">
                          <a:solidFill>
                            <a:srgbClr val="252C36"/>
                          </a:solidFill>
                          <a:latin typeface="Tw Cen MT"/>
                        </a:rPr>
                        <a:t>37,001</a:t>
                      </a:r>
                    </a:p>
                  </a:txBody>
                  <a:tcPr anchor="ctr">
                    <a:solidFill>
                      <a:srgbClr val="FFFFFF"/>
                    </a:solidFill>
                  </a:tcPr>
                </a:tc>
                <a:tc>
                  <a:txBody>
                    <a:bodyPr/>
                    <a:lstStyle/>
                    <a:p>
                      <a:pPr algn="ctr"/>
                      <a:r>
                        <a:rPr lang="en-US" sz="1100">
                          <a:solidFill>
                            <a:srgbClr val="252C36"/>
                          </a:solidFill>
                          <a:latin typeface="Tw Cen MT"/>
                        </a:rPr>
                        <a:t>9,056</a:t>
                      </a:r>
                    </a:p>
                  </a:txBody>
                  <a:tcPr anchor="ctr">
                    <a:solidFill>
                      <a:srgbClr val="FFFFFF"/>
                    </a:solidFill>
                  </a:tcPr>
                </a:tc>
                <a:extLst>
                  <a:ext uri="{0D108BD9-81ED-4DB2-BD59-A6C34878D82A}">
                    <a16:rowId xmlns:a16="http://schemas.microsoft.com/office/drawing/2014/main" val="1608617033"/>
                  </a:ext>
                </a:extLst>
              </a:tr>
              <a:tr h="412750">
                <a:tc>
                  <a:txBody>
                    <a:bodyPr/>
                    <a:lstStyle/>
                    <a:p>
                      <a:pPr algn="ctr"/>
                      <a:r>
                        <a:rPr lang="en-US" sz="1100">
                          <a:solidFill>
                            <a:srgbClr val="252C36"/>
                          </a:solidFill>
                          <a:latin typeface="Tw Cen MT"/>
                        </a:rPr>
                        <a:t>100,000</a:t>
                      </a:r>
                    </a:p>
                  </a:txBody>
                  <a:tcPr anchor="ctr">
                    <a:solidFill>
                      <a:srgbClr val="EDF7FB"/>
                    </a:solidFill>
                  </a:tcPr>
                </a:tc>
                <a:tc>
                  <a:txBody>
                    <a:bodyPr/>
                    <a:lstStyle/>
                    <a:p>
                      <a:pPr algn="ctr"/>
                      <a:r>
                        <a:rPr lang="en-US" sz="1100">
                          <a:solidFill>
                            <a:srgbClr val="252C36"/>
                          </a:solidFill>
                          <a:latin typeface="Tw Cen MT"/>
                        </a:rPr>
                        <a:t>73,977</a:t>
                      </a:r>
                    </a:p>
                  </a:txBody>
                  <a:tcPr anchor="ctr">
                    <a:solidFill>
                      <a:srgbClr val="EDF7FB"/>
                    </a:solidFill>
                  </a:tcPr>
                </a:tc>
                <a:tc>
                  <a:txBody>
                    <a:bodyPr/>
                    <a:lstStyle/>
                    <a:p>
                      <a:pPr algn="ctr"/>
                      <a:r>
                        <a:rPr lang="en-US" sz="1100">
                          <a:solidFill>
                            <a:srgbClr val="252C36"/>
                          </a:solidFill>
                          <a:latin typeface="Tw Cen MT"/>
                        </a:rPr>
                        <a:t>18,404</a:t>
                      </a:r>
                    </a:p>
                  </a:txBody>
                  <a:tcPr anchor="ctr">
                    <a:solidFill>
                      <a:srgbClr val="EDF7FB"/>
                    </a:solidFill>
                  </a:tcPr>
                </a:tc>
                <a:extLst>
                  <a:ext uri="{0D108BD9-81ED-4DB2-BD59-A6C34878D82A}">
                    <a16:rowId xmlns:a16="http://schemas.microsoft.com/office/drawing/2014/main" val="350128330"/>
                  </a:ext>
                </a:extLst>
              </a:tr>
              <a:tr h="412750">
                <a:tc>
                  <a:txBody>
                    <a:bodyPr/>
                    <a:lstStyle/>
                    <a:p>
                      <a:pPr algn="ctr"/>
                      <a:r>
                        <a:rPr lang="en-US" sz="1100">
                          <a:solidFill>
                            <a:srgbClr val="252C36"/>
                          </a:solidFill>
                          <a:latin typeface="Tw Cen MT"/>
                        </a:rPr>
                        <a:t>250,000</a:t>
                      </a:r>
                    </a:p>
                  </a:txBody>
                  <a:tcPr anchor="ctr">
                    <a:solidFill>
                      <a:srgbClr val="FFFFFF"/>
                    </a:solidFill>
                  </a:tcPr>
                </a:tc>
                <a:tc>
                  <a:txBody>
                    <a:bodyPr/>
                    <a:lstStyle/>
                    <a:p>
                      <a:pPr algn="ctr"/>
                      <a:r>
                        <a:rPr lang="en-US" sz="1100">
                          <a:solidFill>
                            <a:srgbClr val="252C36"/>
                          </a:solidFill>
                          <a:latin typeface="Tw Cen MT"/>
                        </a:rPr>
                        <a:t>185,440</a:t>
                      </a:r>
                    </a:p>
                  </a:txBody>
                  <a:tcPr anchor="ctr">
                    <a:solidFill>
                      <a:srgbClr val="FFFFFF"/>
                    </a:solidFill>
                  </a:tcPr>
                </a:tc>
                <a:tc>
                  <a:txBody>
                    <a:bodyPr/>
                    <a:lstStyle/>
                    <a:p>
                      <a:pPr algn="ctr"/>
                      <a:r>
                        <a:rPr lang="en-US" sz="1100">
                          <a:solidFill>
                            <a:srgbClr val="252C36"/>
                          </a:solidFill>
                          <a:latin typeface="Tw Cen MT"/>
                        </a:rPr>
                        <a:t>46,381</a:t>
                      </a:r>
                    </a:p>
                  </a:txBody>
                  <a:tcPr anchor="ctr">
                    <a:solidFill>
                      <a:srgbClr val="FFFFFF"/>
                    </a:solidFill>
                  </a:tcPr>
                </a:tc>
                <a:extLst>
                  <a:ext uri="{0D108BD9-81ED-4DB2-BD59-A6C34878D82A}">
                    <a16:rowId xmlns:a16="http://schemas.microsoft.com/office/drawing/2014/main" val="2015548038"/>
                  </a:ext>
                </a:extLst>
              </a:tr>
            </a:tbl>
          </a:graphicData>
        </a:graphic>
      </p:graphicFrame>
      <p:sp>
        <p:nvSpPr>
          <p:cNvPr id="13" name="Rectangle: Rounded Corners 12">
            <a:extLst>
              <a:ext uri="{FF2B5EF4-FFF2-40B4-BE49-F238E27FC236}">
                <a16:creationId xmlns:a16="http://schemas.microsoft.com/office/drawing/2014/main" id="{681ACE05-415D-4129-9D34-871C98D17C28}"/>
              </a:ext>
            </a:extLst>
          </p:cNvPr>
          <p:cNvSpPr/>
          <p:nvPr/>
        </p:nvSpPr>
        <p:spPr>
          <a:xfrm>
            <a:off x="762000" y="4508500"/>
            <a:ext cx="10668000" cy="1651000"/>
          </a:xfrm>
          <a:prstGeom prst="roundRect">
            <a:avLst/>
          </a:prstGeom>
          <a:solidFill>
            <a:srgbClr val="252C3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TextBox 13">
            <a:extLst>
              <a:ext uri="{FF2B5EF4-FFF2-40B4-BE49-F238E27FC236}">
                <a16:creationId xmlns:a16="http://schemas.microsoft.com/office/drawing/2014/main" id="{0DA492A4-5404-48D8-BB34-CC6A10DA1353}"/>
              </a:ext>
            </a:extLst>
          </p:cNvPr>
          <p:cNvSpPr txBox="1"/>
          <p:nvPr/>
        </p:nvSpPr>
        <p:spPr>
          <a:xfrm>
            <a:off x="1016000" y="4572000"/>
            <a:ext cx="2540000" cy="355600"/>
          </a:xfrm>
          <a:prstGeom prst="rect">
            <a:avLst/>
          </a:prstGeom>
          <a:noFill/>
        </p:spPr>
        <p:txBody>
          <a:bodyPr vertOverflow="overflow" vert="horz" wrap="square" rtlCol="0" anchor="t">
            <a:spAutoFit/>
          </a:bodyPr>
          <a:lstStyle/>
          <a:p>
            <a:pPr algn="l"/>
            <a:r>
              <a:rPr lang="en-US" sz="1400" b="1">
                <a:solidFill>
                  <a:srgbClr val="4FD093"/>
                </a:solidFill>
                <a:latin typeface="Tw Cen MT"/>
              </a:rPr>
              <a:t>Key Findings</a:t>
            </a:r>
          </a:p>
        </p:txBody>
      </p:sp>
      <p:sp>
        <p:nvSpPr>
          <p:cNvPr id="15" name="TextBox 14">
            <a:extLst>
              <a:ext uri="{FF2B5EF4-FFF2-40B4-BE49-F238E27FC236}">
                <a16:creationId xmlns:a16="http://schemas.microsoft.com/office/drawing/2014/main" id="{66F6E14D-A7F7-4280-8BB3-8F3A811FACD4}"/>
              </a:ext>
            </a:extLst>
          </p:cNvPr>
          <p:cNvSpPr txBox="1"/>
          <p:nvPr/>
        </p:nvSpPr>
        <p:spPr>
          <a:xfrm>
            <a:off x="1016000" y="4927600"/>
            <a:ext cx="10160000" cy="1143000"/>
          </a:xfrm>
          <a:prstGeom prst="rect">
            <a:avLst/>
          </a:prstGeom>
          <a:noFill/>
        </p:spPr>
        <p:txBody>
          <a:bodyPr vertOverflow="overflow" vert="horz" wrap="square" rtlCol="0" anchor="t">
            <a:spAutoFit/>
          </a:bodyPr>
          <a:lstStyle/>
          <a:p>
            <a:pPr algn="l"/>
            <a:r>
              <a:rPr lang="en-US" sz="1400">
                <a:solidFill>
                  <a:srgbClr val="FFFFFF"/>
                </a:solidFill>
                <a:latin typeface="Tw Cen MT"/>
              </a:rPr>
              <a:t>✓  Significant class imbalance across all dataset sizes (~87% positive vs ~13% negative)
✓  80/20 training-validation split maintained consistently across all dataset sizes
✓  Largest dataset (250K) provides 185,440 training samples for robust model fitting</a:t>
            </a:r>
          </a:p>
        </p:txBody>
      </p:sp>
    </p:spTree>
    <p:extLst>
      <p:ext uri="{BB962C8B-B14F-4D97-AF65-F5344CB8AC3E}">
        <p14:creationId xmlns:p14="http://schemas.microsoft.com/office/powerpoint/2010/main" val="32204706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E1906-061D-E80F-B46A-3814D6819F0B}"/>
              </a:ext>
            </a:extLst>
          </p:cNvPr>
          <p:cNvSpPr>
            <a:spLocks noGrp="1"/>
          </p:cNvSpPr>
          <p:nvPr>
            <p:ph type="title"/>
          </p:nvPr>
        </p:nvSpPr>
        <p:spPr/>
        <p:txBody>
          <a:bodyPr/>
          <a:lstStyle/>
          <a:p>
            <a:pPr algn="ctr"/>
            <a:r>
              <a:rPr lang="en-US" dirty="0"/>
              <a:t>Logistic Regression vs. Naïve Bayes</a:t>
            </a:r>
          </a:p>
        </p:txBody>
      </p:sp>
      <p:sp>
        <p:nvSpPr>
          <p:cNvPr id="3" name="Rectangle: Rounded Corners 2">
            <a:extLst>
              <a:ext uri="{FF2B5EF4-FFF2-40B4-BE49-F238E27FC236}">
                <a16:creationId xmlns:a16="http://schemas.microsoft.com/office/drawing/2014/main" id="{C9EE5C72-1829-4EFD-AD49-075FD74C0C0C}"/>
              </a:ext>
            </a:extLst>
          </p:cNvPr>
          <p:cNvSpPr/>
          <p:nvPr/>
        </p:nvSpPr>
        <p:spPr>
          <a:xfrm>
            <a:off x="533400" y="2133600"/>
            <a:ext cx="5461000" cy="457200"/>
          </a:xfrm>
          <a:prstGeom prst="roundRect">
            <a:avLst/>
          </a:prstGeom>
          <a:solidFill>
            <a:srgbClr val="1A6B44"/>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rPr>
              <a:t>Logistic Regression</a:t>
            </a:r>
          </a:p>
        </p:txBody>
      </p:sp>
      <p:graphicFrame>
        <p:nvGraphicFramePr>
          <p:cNvPr id="5" name="Table 4">
            <a:extLst>
              <a:ext uri="{FF2B5EF4-FFF2-40B4-BE49-F238E27FC236}">
                <a16:creationId xmlns:a16="http://schemas.microsoft.com/office/drawing/2014/main" id="{C3604BF5-BB3D-4FA0-9B0C-0F10C9397333}"/>
              </a:ext>
            </a:extLst>
          </p:cNvPr>
          <p:cNvGraphicFramePr>
            <a:graphicFrameLocks noGrp="1"/>
          </p:cNvGraphicFramePr>
          <p:nvPr/>
        </p:nvGraphicFramePr>
        <p:xfrm>
          <a:off x="533400" y="2641600"/>
          <a:ext cx="5461000" cy="1651000"/>
        </p:xfrm>
        <a:graphic>
          <a:graphicData uri="http://schemas.openxmlformats.org/drawingml/2006/table">
            <a:tbl>
              <a:tblPr firstRow="1" bandRow="1">
                <a:tableStyleId>{5C22544A-7EE6-4342-B048-85BDC9FD1C3A}</a:tableStyleId>
              </a:tblPr>
              <a:tblGrid>
                <a:gridCol w="1365250">
                  <a:extLst>
                    <a:ext uri="{9D8B030D-6E8A-4147-A177-3AD203B41FA5}">
                      <a16:colId xmlns:a16="http://schemas.microsoft.com/office/drawing/2014/main" val="1251531982"/>
                    </a:ext>
                  </a:extLst>
                </a:gridCol>
                <a:gridCol w="1365250">
                  <a:extLst>
                    <a:ext uri="{9D8B030D-6E8A-4147-A177-3AD203B41FA5}">
                      <a16:colId xmlns:a16="http://schemas.microsoft.com/office/drawing/2014/main" val="509664883"/>
                    </a:ext>
                  </a:extLst>
                </a:gridCol>
                <a:gridCol w="1365250">
                  <a:extLst>
                    <a:ext uri="{9D8B030D-6E8A-4147-A177-3AD203B41FA5}">
                      <a16:colId xmlns:a16="http://schemas.microsoft.com/office/drawing/2014/main" val="1065197200"/>
                    </a:ext>
                  </a:extLst>
                </a:gridCol>
                <a:gridCol w="1365250">
                  <a:extLst>
                    <a:ext uri="{9D8B030D-6E8A-4147-A177-3AD203B41FA5}">
                      <a16:colId xmlns:a16="http://schemas.microsoft.com/office/drawing/2014/main" val="2210217720"/>
                    </a:ext>
                  </a:extLst>
                </a:gridCol>
              </a:tblGrid>
              <a:tr h="412750">
                <a:tc>
                  <a:txBody>
                    <a:bodyPr/>
                    <a:lstStyle/>
                    <a:p>
                      <a:pPr algn="ctr"/>
                      <a:r>
                        <a:rPr lang="en-US" sz="1100" b="1">
                          <a:solidFill>
                            <a:srgbClr val="FFFFFF"/>
                          </a:solidFill>
                          <a:latin typeface="Tw Cen MT"/>
                        </a:rPr>
                        <a:t>Dataset Size</a:t>
                      </a:r>
                    </a:p>
                  </a:txBody>
                  <a:tcPr anchor="ctr">
                    <a:solidFill>
                      <a:srgbClr val="1A6B44"/>
                    </a:solidFill>
                  </a:tcPr>
                </a:tc>
                <a:tc>
                  <a:txBody>
                    <a:bodyPr/>
                    <a:lstStyle/>
                    <a:p>
                      <a:pPr algn="ctr"/>
                      <a:r>
                        <a:rPr lang="en-US" sz="1100" b="1">
                          <a:solidFill>
                            <a:srgbClr val="FFFFFF"/>
                          </a:solidFill>
                          <a:latin typeface="Tw Cen MT"/>
                        </a:rPr>
                        <a:t>Training Time</a:t>
                      </a:r>
                    </a:p>
                  </a:txBody>
                  <a:tcPr anchor="ctr">
                    <a:solidFill>
                      <a:srgbClr val="1A6B44"/>
                    </a:solidFill>
                  </a:tcPr>
                </a:tc>
                <a:tc>
                  <a:txBody>
                    <a:bodyPr/>
                    <a:lstStyle/>
                    <a:p>
                      <a:pPr algn="ctr"/>
                      <a:r>
                        <a:rPr lang="en-US" sz="1100" b="1">
                          <a:solidFill>
                            <a:srgbClr val="FFFFFF"/>
                          </a:solidFill>
                          <a:latin typeface="Tw Cen MT"/>
                        </a:rPr>
                        <a:t>Accuracy</a:t>
                      </a:r>
                    </a:p>
                  </a:txBody>
                  <a:tcPr anchor="ctr">
                    <a:solidFill>
                      <a:srgbClr val="1A6B44"/>
                    </a:solidFill>
                  </a:tcPr>
                </a:tc>
                <a:tc>
                  <a:txBody>
                    <a:bodyPr/>
                    <a:lstStyle/>
                    <a:p>
                      <a:pPr algn="ctr"/>
                      <a:r>
                        <a:rPr lang="en-US" sz="1100" b="1">
                          <a:solidFill>
                            <a:srgbClr val="FFFFFF"/>
                          </a:solidFill>
                          <a:latin typeface="Tw Cen MT"/>
                        </a:rPr>
                        <a:t>F1-Score</a:t>
                      </a:r>
                    </a:p>
                  </a:txBody>
                  <a:tcPr anchor="ctr">
                    <a:solidFill>
                      <a:srgbClr val="1A6B44"/>
                    </a:solidFill>
                  </a:tcPr>
                </a:tc>
                <a:extLst>
                  <a:ext uri="{0D108BD9-81ED-4DB2-BD59-A6C34878D82A}">
                    <a16:rowId xmlns:a16="http://schemas.microsoft.com/office/drawing/2014/main" val="1974650569"/>
                  </a:ext>
                </a:extLst>
              </a:tr>
              <a:tr h="412750">
                <a:tc>
                  <a:txBody>
                    <a:bodyPr/>
                    <a:lstStyle/>
                    <a:p>
                      <a:pPr algn="ctr"/>
                      <a:r>
                        <a:rPr lang="en-US" sz="1100">
                          <a:solidFill>
                            <a:srgbClr val="252C36"/>
                          </a:solidFill>
                          <a:latin typeface="Tw Cen MT"/>
                        </a:rPr>
                        <a:t>50,000</a:t>
                      </a:r>
                    </a:p>
                  </a:txBody>
                  <a:tcPr anchor="ctr">
                    <a:solidFill>
                      <a:srgbClr val="FFFFFF"/>
                    </a:solidFill>
                  </a:tcPr>
                </a:tc>
                <a:tc>
                  <a:txBody>
                    <a:bodyPr/>
                    <a:lstStyle/>
                    <a:p>
                      <a:pPr algn="ctr"/>
                      <a:r>
                        <a:rPr lang="en-US" sz="1100">
                          <a:solidFill>
                            <a:srgbClr val="252C36"/>
                          </a:solidFill>
                          <a:latin typeface="Tw Cen MT"/>
                        </a:rPr>
                        <a:t>18.71s</a:t>
                      </a:r>
                    </a:p>
                  </a:txBody>
                  <a:tcPr anchor="ctr">
                    <a:solidFill>
                      <a:srgbClr val="FFFFFF"/>
                    </a:solidFill>
                  </a:tcPr>
                </a:tc>
                <a:tc>
                  <a:txBody>
                    <a:bodyPr/>
                    <a:lstStyle/>
                    <a:p>
                      <a:pPr algn="ctr"/>
                      <a:r>
                        <a:rPr lang="en-US" sz="1100">
                          <a:solidFill>
                            <a:srgbClr val="252C36"/>
                          </a:solidFill>
                          <a:latin typeface="Tw Cen MT"/>
                        </a:rPr>
                        <a:t>91.43%</a:t>
                      </a:r>
                    </a:p>
                  </a:txBody>
                  <a:tcPr anchor="ctr">
                    <a:solidFill>
                      <a:srgbClr val="FFFFFF"/>
                    </a:solidFill>
                  </a:tcPr>
                </a:tc>
                <a:tc>
                  <a:txBody>
                    <a:bodyPr/>
                    <a:lstStyle/>
                    <a:p>
                      <a:pPr algn="ctr"/>
                      <a:r>
                        <a:rPr lang="en-US" sz="1100">
                          <a:solidFill>
                            <a:srgbClr val="252C36"/>
                          </a:solidFill>
                          <a:latin typeface="Tw Cen MT"/>
                        </a:rPr>
                        <a:t>90.78%</a:t>
                      </a:r>
                    </a:p>
                  </a:txBody>
                  <a:tcPr anchor="ctr">
                    <a:solidFill>
                      <a:srgbClr val="FFFFFF"/>
                    </a:solidFill>
                  </a:tcPr>
                </a:tc>
                <a:extLst>
                  <a:ext uri="{0D108BD9-81ED-4DB2-BD59-A6C34878D82A}">
                    <a16:rowId xmlns:a16="http://schemas.microsoft.com/office/drawing/2014/main" val="121618543"/>
                  </a:ext>
                </a:extLst>
              </a:tr>
              <a:tr h="412750">
                <a:tc>
                  <a:txBody>
                    <a:bodyPr/>
                    <a:lstStyle/>
                    <a:p>
                      <a:pPr algn="ctr"/>
                      <a:r>
                        <a:rPr lang="en-US" sz="1100">
                          <a:solidFill>
                            <a:srgbClr val="252C36"/>
                          </a:solidFill>
                          <a:latin typeface="Tw Cen MT"/>
                        </a:rPr>
                        <a:t>100,000</a:t>
                      </a:r>
                    </a:p>
                  </a:txBody>
                  <a:tcPr anchor="ctr">
                    <a:solidFill>
                      <a:srgbClr val="F0F8F4"/>
                    </a:solidFill>
                  </a:tcPr>
                </a:tc>
                <a:tc>
                  <a:txBody>
                    <a:bodyPr/>
                    <a:lstStyle/>
                    <a:p>
                      <a:pPr algn="ctr"/>
                      <a:r>
                        <a:rPr lang="en-US" sz="1100">
                          <a:solidFill>
                            <a:srgbClr val="252C36"/>
                          </a:solidFill>
                          <a:latin typeface="Tw Cen MT"/>
                        </a:rPr>
                        <a:t>17.00s</a:t>
                      </a:r>
                    </a:p>
                  </a:txBody>
                  <a:tcPr anchor="ctr">
                    <a:solidFill>
                      <a:srgbClr val="F0F8F4"/>
                    </a:solidFill>
                  </a:tcPr>
                </a:tc>
                <a:tc>
                  <a:txBody>
                    <a:bodyPr/>
                    <a:lstStyle/>
                    <a:p>
                      <a:pPr algn="ctr"/>
                      <a:r>
                        <a:rPr lang="en-US" sz="1100">
                          <a:solidFill>
                            <a:srgbClr val="252C36"/>
                          </a:solidFill>
                          <a:latin typeface="Tw Cen MT"/>
                        </a:rPr>
                        <a:t>92.07%</a:t>
                      </a:r>
                    </a:p>
                  </a:txBody>
                  <a:tcPr anchor="ctr">
                    <a:solidFill>
                      <a:srgbClr val="F0F8F4"/>
                    </a:solidFill>
                  </a:tcPr>
                </a:tc>
                <a:tc>
                  <a:txBody>
                    <a:bodyPr/>
                    <a:lstStyle/>
                    <a:p>
                      <a:pPr algn="ctr"/>
                      <a:r>
                        <a:rPr lang="en-US" sz="1100">
                          <a:solidFill>
                            <a:srgbClr val="252C36"/>
                          </a:solidFill>
                          <a:latin typeface="Tw Cen MT"/>
                        </a:rPr>
                        <a:t>91.29%</a:t>
                      </a:r>
                    </a:p>
                  </a:txBody>
                  <a:tcPr anchor="ctr">
                    <a:solidFill>
                      <a:srgbClr val="F0F8F4"/>
                    </a:solidFill>
                  </a:tcPr>
                </a:tc>
                <a:extLst>
                  <a:ext uri="{0D108BD9-81ED-4DB2-BD59-A6C34878D82A}">
                    <a16:rowId xmlns:a16="http://schemas.microsoft.com/office/drawing/2014/main" val="1019308853"/>
                  </a:ext>
                </a:extLst>
              </a:tr>
              <a:tr h="412750">
                <a:tc>
                  <a:txBody>
                    <a:bodyPr/>
                    <a:lstStyle/>
                    <a:p>
                      <a:pPr algn="ctr"/>
                      <a:r>
                        <a:rPr lang="en-US" sz="1100">
                          <a:solidFill>
                            <a:srgbClr val="252C36"/>
                          </a:solidFill>
                          <a:latin typeface="Tw Cen MT"/>
                        </a:rPr>
                        <a:t>250,000</a:t>
                      </a:r>
                    </a:p>
                  </a:txBody>
                  <a:tcPr anchor="ctr">
                    <a:solidFill>
                      <a:srgbClr val="FFFFFF"/>
                    </a:solidFill>
                  </a:tcPr>
                </a:tc>
                <a:tc>
                  <a:txBody>
                    <a:bodyPr/>
                    <a:lstStyle/>
                    <a:p>
                      <a:pPr algn="ctr"/>
                      <a:r>
                        <a:rPr lang="en-US" sz="1100">
                          <a:solidFill>
                            <a:srgbClr val="252C36"/>
                          </a:solidFill>
                          <a:latin typeface="Tw Cen MT"/>
                        </a:rPr>
                        <a:t>31.54s</a:t>
                      </a:r>
                    </a:p>
                  </a:txBody>
                  <a:tcPr anchor="ctr">
                    <a:solidFill>
                      <a:srgbClr val="FFFFFF"/>
                    </a:solidFill>
                  </a:tcPr>
                </a:tc>
                <a:tc>
                  <a:txBody>
                    <a:bodyPr/>
                    <a:lstStyle/>
                    <a:p>
                      <a:pPr algn="ctr"/>
                      <a:r>
                        <a:rPr lang="en-US" sz="1100">
                          <a:solidFill>
                            <a:srgbClr val="252C36"/>
                          </a:solidFill>
                          <a:latin typeface="Tw Cen MT"/>
                        </a:rPr>
                        <a:t>92.82%</a:t>
                      </a:r>
                    </a:p>
                  </a:txBody>
                  <a:tcPr anchor="ctr">
                    <a:solidFill>
                      <a:srgbClr val="FFFFFF"/>
                    </a:solidFill>
                  </a:tcPr>
                </a:tc>
                <a:tc>
                  <a:txBody>
                    <a:bodyPr/>
                    <a:lstStyle/>
                    <a:p>
                      <a:pPr algn="ctr"/>
                      <a:r>
                        <a:rPr lang="en-US" sz="1100">
                          <a:solidFill>
                            <a:srgbClr val="252C36"/>
                          </a:solidFill>
                          <a:latin typeface="Tw Cen MT"/>
                        </a:rPr>
                        <a:t>92.04%</a:t>
                      </a:r>
                    </a:p>
                  </a:txBody>
                  <a:tcPr anchor="ctr">
                    <a:solidFill>
                      <a:srgbClr val="FFFFFF"/>
                    </a:solidFill>
                  </a:tcPr>
                </a:tc>
                <a:extLst>
                  <a:ext uri="{0D108BD9-81ED-4DB2-BD59-A6C34878D82A}">
                    <a16:rowId xmlns:a16="http://schemas.microsoft.com/office/drawing/2014/main" val="2089799564"/>
                  </a:ext>
                </a:extLst>
              </a:tr>
            </a:tbl>
          </a:graphicData>
        </a:graphic>
      </p:graphicFrame>
      <p:sp>
        <p:nvSpPr>
          <p:cNvPr id="6" name="Rectangle: Rounded Corners 5">
            <a:extLst>
              <a:ext uri="{FF2B5EF4-FFF2-40B4-BE49-F238E27FC236}">
                <a16:creationId xmlns:a16="http://schemas.microsoft.com/office/drawing/2014/main" id="{EB172D29-BEE5-430B-8418-51A5091FC3D4}"/>
              </a:ext>
            </a:extLst>
          </p:cNvPr>
          <p:cNvSpPr/>
          <p:nvPr/>
        </p:nvSpPr>
        <p:spPr>
          <a:xfrm>
            <a:off x="6324600" y="2133600"/>
            <a:ext cx="5461000" cy="457200"/>
          </a:xfrm>
          <a:prstGeom prst="roundRect">
            <a:avLst/>
          </a:prstGeom>
          <a:solidFill>
            <a:srgbClr val="1B6A8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600" b="1">
                <a:solidFill>
                  <a:srgbClr val="FFFFFF"/>
                </a:solidFill>
              </a:rPr>
              <a:t>Naïve Bayes</a:t>
            </a:r>
          </a:p>
        </p:txBody>
      </p:sp>
      <p:graphicFrame>
        <p:nvGraphicFramePr>
          <p:cNvPr id="8" name="Table 7">
            <a:extLst>
              <a:ext uri="{FF2B5EF4-FFF2-40B4-BE49-F238E27FC236}">
                <a16:creationId xmlns:a16="http://schemas.microsoft.com/office/drawing/2014/main" id="{1110CB8D-E934-4D59-BBE8-99D5513A2D5B}"/>
              </a:ext>
            </a:extLst>
          </p:cNvPr>
          <p:cNvGraphicFramePr>
            <a:graphicFrameLocks noGrp="1"/>
          </p:cNvGraphicFramePr>
          <p:nvPr/>
        </p:nvGraphicFramePr>
        <p:xfrm>
          <a:off x="6324600" y="2641600"/>
          <a:ext cx="5461000" cy="1651000"/>
        </p:xfrm>
        <a:graphic>
          <a:graphicData uri="http://schemas.openxmlformats.org/drawingml/2006/table">
            <a:tbl>
              <a:tblPr firstRow="1" bandRow="1">
                <a:tableStyleId>{5C22544A-7EE6-4342-B048-85BDC9FD1C3A}</a:tableStyleId>
              </a:tblPr>
              <a:tblGrid>
                <a:gridCol w="1365250">
                  <a:extLst>
                    <a:ext uri="{9D8B030D-6E8A-4147-A177-3AD203B41FA5}">
                      <a16:colId xmlns:a16="http://schemas.microsoft.com/office/drawing/2014/main" val="4125883693"/>
                    </a:ext>
                  </a:extLst>
                </a:gridCol>
                <a:gridCol w="1365250">
                  <a:extLst>
                    <a:ext uri="{9D8B030D-6E8A-4147-A177-3AD203B41FA5}">
                      <a16:colId xmlns:a16="http://schemas.microsoft.com/office/drawing/2014/main" val="2455831713"/>
                    </a:ext>
                  </a:extLst>
                </a:gridCol>
                <a:gridCol w="1365250">
                  <a:extLst>
                    <a:ext uri="{9D8B030D-6E8A-4147-A177-3AD203B41FA5}">
                      <a16:colId xmlns:a16="http://schemas.microsoft.com/office/drawing/2014/main" val="3702563999"/>
                    </a:ext>
                  </a:extLst>
                </a:gridCol>
                <a:gridCol w="1365250">
                  <a:extLst>
                    <a:ext uri="{9D8B030D-6E8A-4147-A177-3AD203B41FA5}">
                      <a16:colId xmlns:a16="http://schemas.microsoft.com/office/drawing/2014/main" val="307973012"/>
                    </a:ext>
                  </a:extLst>
                </a:gridCol>
              </a:tblGrid>
              <a:tr h="412750">
                <a:tc>
                  <a:txBody>
                    <a:bodyPr/>
                    <a:lstStyle/>
                    <a:p>
                      <a:pPr algn="ctr"/>
                      <a:r>
                        <a:rPr lang="en-US" sz="1100" b="1">
                          <a:solidFill>
                            <a:srgbClr val="FFFFFF"/>
                          </a:solidFill>
                          <a:latin typeface="Tw Cen MT"/>
                        </a:rPr>
                        <a:t>Dataset Size</a:t>
                      </a:r>
                    </a:p>
                  </a:txBody>
                  <a:tcPr anchor="ctr">
                    <a:solidFill>
                      <a:srgbClr val="1B6A86"/>
                    </a:solidFill>
                  </a:tcPr>
                </a:tc>
                <a:tc>
                  <a:txBody>
                    <a:bodyPr/>
                    <a:lstStyle/>
                    <a:p>
                      <a:pPr algn="ctr"/>
                      <a:r>
                        <a:rPr lang="en-US" sz="1100" b="1">
                          <a:solidFill>
                            <a:srgbClr val="FFFFFF"/>
                          </a:solidFill>
                          <a:latin typeface="Tw Cen MT"/>
                        </a:rPr>
                        <a:t>Training Time</a:t>
                      </a:r>
                    </a:p>
                  </a:txBody>
                  <a:tcPr anchor="ctr">
                    <a:solidFill>
                      <a:srgbClr val="1B6A86"/>
                    </a:solidFill>
                  </a:tcPr>
                </a:tc>
                <a:tc>
                  <a:txBody>
                    <a:bodyPr/>
                    <a:lstStyle/>
                    <a:p>
                      <a:pPr algn="ctr"/>
                      <a:r>
                        <a:rPr lang="en-US" sz="1100" b="1">
                          <a:solidFill>
                            <a:srgbClr val="FFFFFF"/>
                          </a:solidFill>
                          <a:latin typeface="Tw Cen MT"/>
                        </a:rPr>
                        <a:t>Accuracy</a:t>
                      </a:r>
                    </a:p>
                  </a:txBody>
                  <a:tcPr anchor="ctr">
                    <a:solidFill>
                      <a:srgbClr val="1B6A86"/>
                    </a:solidFill>
                  </a:tcPr>
                </a:tc>
                <a:tc>
                  <a:txBody>
                    <a:bodyPr/>
                    <a:lstStyle/>
                    <a:p>
                      <a:pPr algn="ctr"/>
                      <a:r>
                        <a:rPr lang="en-US" sz="1100" b="1">
                          <a:solidFill>
                            <a:srgbClr val="FFFFFF"/>
                          </a:solidFill>
                          <a:latin typeface="Tw Cen MT"/>
                        </a:rPr>
                        <a:t>F1-Score</a:t>
                      </a:r>
                    </a:p>
                  </a:txBody>
                  <a:tcPr anchor="ctr">
                    <a:solidFill>
                      <a:srgbClr val="1B6A86"/>
                    </a:solidFill>
                  </a:tcPr>
                </a:tc>
                <a:extLst>
                  <a:ext uri="{0D108BD9-81ED-4DB2-BD59-A6C34878D82A}">
                    <a16:rowId xmlns:a16="http://schemas.microsoft.com/office/drawing/2014/main" val="2949357716"/>
                  </a:ext>
                </a:extLst>
              </a:tr>
              <a:tr h="412750">
                <a:tc>
                  <a:txBody>
                    <a:bodyPr/>
                    <a:lstStyle/>
                    <a:p>
                      <a:pPr algn="ctr"/>
                      <a:r>
                        <a:rPr lang="en-US" sz="1100">
                          <a:solidFill>
                            <a:srgbClr val="252C36"/>
                          </a:solidFill>
                          <a:latin typeface="Tw Cen MT"/>
                        </a:rPr>
                        <a:t>50,000</a:t>
                      </a:r>
                    </a:p>
                  </a:txBody>
                  <a:tcPr anchor="ctr">
                    <a:solidFill>
                      <a:srgbClr val="FFFFFF"/>
                    </a:solidFill>
                  </a:tcPr>
                </a:tc>
                <a:tc>
                  <a:txBody>
                    <a:bodyPr/>
                    <a:lstStyle/>
                    <a:p>
                      <a:pPr algn="ctr"/>
                      <a:r>
                        <a:rPr lang="en-US" sz="1100">
                          <a:solidFill>
                            <a:srgbClr val="252C36"/>
                          </a:solidFill>
                          <a:latin typeface="Tw Cen MT"/>
                        </a:rPr>
                        <a:t>10.05s</a:t>
                      </a:r>
                    </a:p>
                  </a:txBody>
                  <a:tcPr anchor="ctr">
                    <a:solidFill>
                      <a:srgbClr val="FFFFFF"/>
                    </a:solidFill>
                  </a:tcPr>
                </a:tc>
                <a:tc>
                  <a:txBody>
                    <a:bodyPr/>
                    <a:lstStyle/>
                    <a:p>
                      <a:pPr algn="ctr"/>
                      <a:r>
                        <a:rPr lang="en-US" sz="1100">
                          <a:solidFill>
                            <a:srgbClr val="252C36"/>
                          </a:solidFill>
                          <a:latin typeface="Tw Cen MT"/>
                        </a:rPr>
                        <a:t>87.90%</a:t>
                      </a:r>
                    </a:p>
                  </a:txBody>
                  <a:tcPr anchor="ctr">
                    <a:solidFill>
                      <a:srgbClr val="FFFFFF"/>
                    </a:solidFill>
                  </a:tcPr>
                </a:tc>
                <a:tc>
                  <a:txBody>
                    <a:bodyPr/>
                    <a:lstStyle/>
                    <a:p>
                      <a:pPr algn="ctr"/>
                      <a:r>
                        <a:rPr lang="en-US" sz="1100">
                          <a:solidFill>
                            <a:srgbClr val="252C36"/>
                          </a:solidFill>
                          <a:latin typeface="Tw Cen MT"/>
                        </a:rPr>
                        <a:t>88.72%</a:t>
                      </a:r>
                    </a:p>
                  </a:txBody>
                  <a:tcPr anchor="ctr">
                    <a:solidFill>
                      <a:srgbClr val="FFFFFF"/>
                    </a:solidFill>
                  </a:tcPr>
                </a:tc>
                <a:extLst>
                  <a:ext uri="{0D108BD9-81ED-4DB2-BD59-A6C34878D82A}">
                    <a16:rowId xmlns:a16="http://schemas.microsoft.com/office/drawing/2014/main" val="1164022969"/>
                  </a:ext>
                </a:extLst>
              </a:tr>
              <a:tr h="412750">
                <a:tc>
                  <a:txBody>
                    <a:bodyPr/>
                    <a:lstStyle/>
                    <a:p>
                      <a:pPr algn="ctr"/>
                      <a:r>
                        <a:rPr lang="en-US" sz="1100">
                          <a:solidFill>
                            <a:srgbClr val="252C36"/>
                          </a:solidFill>
                          <a:latin typeface="Tw Cen MT"/>
                        </a:rPr>
                        <a:t>100,000</a:t>
                      </a:r>
                    </a:p>
                  </a:txBody>
                  <a:tcPr anchor="ctr">
                    <a:solidFill>
                      <a:srgbClr val="EDF7FB"/>
                    </a:solidFill>
                  </a:tcPr>
                </a:tc>
                <a:tc>
                  <a:txBody>
                    <a:bodyPr/>
                    <a:lstStyle/>
                    <a:p>
                      <a:pPr algn="ctr"/>
                      <a:r>
                        <a:rPr lang="en-US" sz="1100">
                          <a:solidFill>
                            <a:srgbClr val="252C36"/>
                          </a:solidFill>
                          <a:latin typeface="Tw Cen MT"/>
                        </a:rPr>
                        <a:t>14.69s</a:t>
                      </a:r>
                    </a:p>
                  </a:txBody>
                  <a:tcPr anchor="ctr">
                    <a:solidFill>
                      <a:srgbClr val="EDF7FB"/>
                    </a:solidFill>
                  </a:tcPr>
                </a:tc>
                <a:tc>
                  <a:txBody>
                    <a:bodyPr/>
                    <a:lstStyle/>
                    <a:p>
                      <a:pPr algn="ctr"/>
                      <a:r>
                        <a:rPr lang="en-US" sz="1100">
                          <a:solidFill>
                            <a:srgbClr val="252C36"/>
                          </a:solidFill>
                          <a:latin typeface="Tw Cen MT"/>
                        </a:rPr>
                        <a:t>87.93%</a:t>
                      </a:r>
                    </a:p>
                  </a:txBody>
                  <a:tcPr anchor="ctr">
                    <a:solidFill>
                      <a:srgbClr val="EDF7FB"/>
                    </a:solidFill>
                  </a:tcPr>
                </a:tc>
                <a:tc>
                  <a:txBody>
                    <a:bodyPr/>
                    <a:lstStyle/>
                    <a:p>
                      <a:pPr algn="ctr"/>
                      <a:r>
                        <a:rPr lang="en-US" sz="1100">
                          <a:solidFill>
                            <a:srgbClr val="252C36"/>
                          </a:solidFill>
                          <a:latin typeface="Tw Cen MT"/>
                        </a:rPr>
                        <a:t>88.94%</a:t>
                      </a:r>
                    </a:p>
                  </a:txBody>
                  <a:tcPr anchor="ctr">
                    <a:solidFill>
                      <a:srgbClr val="EDF7FB"/>
                    </a:solidFill>
                  </a:tcPr>
                </a:tc>
                <a:extLst>
                  <a:ext uri="{0D108BD9-81ED-4DB2-BD59-A6C34878D82A}">
                    <a16:rowId xmlns:a16="http://schemas.microsoft.com/office/drawing/2014/main" val="4270191771"/>
                  </a:ext>
                </a:extLst>
              </a:tr>
              <a:tr h="412750">
                <a:tc>
                  <a:txBody>
                    <a:bodyPr/>
                    <a:lstStyle/>
                    <a:p>
                      <a:pPr algn="ctr"/>
                      <a:r>
                        <a:rPr lang="en-US" sz="1100">
                          <a:solidFill>
                            <a:srgbClr val="252C36"/>
                          </a:solidFill>
                          <a:latin typeface="Tw Cen MT"/>
                        </a:rPr>
                        <a:t>250,000</a:t>
                      </a:r>
                    </a:p>
                  </a:txBody>
                  <a:tcPr anchor="ctr">
                    <a:solidFill>
                      <a:srgbClr val="FFFFFF"/>
                    </a:solidFill>
                  </a:tcPr>
                </a:tc>
                <a:tc>
                  <a:txBody>
                    <a:bodyPr/>
                    <a:lstStyle/>
                    <a:p>
                      <a:pPr algn="ctr"/>
                      <a:r>
                        <a:rPr lang="en-US" sz="1100">
                          <a:solidFill>
                            <a:srgbClr val="252C36"/>
                          </a:solidFill>
                          <a:latin typeface="Tw Cen MT"/>
                        </a:rPr>
                        <a:t>31.81s</a:t>
                      </a:r>
                    </a:p>
                  </a:txBody>
                  <a:tcPr anchor="ctr">
                    <a:solidFill>
                      <a:srgbClr val="FFFFFF"/>
                    </a:solidFill>
                  </a:tcPr>
                </a:tc>
                <a:tc>
                  <a:txBody>
                    <a:bodyPr/>
                    <a:lstStyle/>
                    <a:p>
                      <a:pPr algn="ctr"/>
                      <a:r>
                        <a:rPr lang="en-US" sz="1100">
                          <a:solidFill>
                            <a:srgbClr val="252C36"/>
                          </a:solidFill>
                          <a:latin typeface="Tw Cen MT"/>
                        </a:rPr>
                        <a:t>89.24%</a:t>
                      </a:r>
                    </a:p>
                  </a:txBody>
                  <a:tcPr anchor="ctr">
                    <a:solidFill>
                      <a:srgbClr val="FFFFFF"/>
                    </a:solidFill>
                  </a:tcPr>
                </a:tc>
                <a:tc>
                  <a:txBody>
                    <a:bodyPr/>
                    <a:lstStyle/>
                    <a:p>
                      <a:pPr algn="ctr"/>
                      <a:r>
                        <a:rPr lang="en-US" sz="1100">
                          <a:solidFill>
                            <a:srgbClr val="252C36"/>
                          </a:solidFill>
                          <a:latin typeface="Tw Cen MT"/>
                        </a:rPr>
                        <a:t>90.07%</a:t>
                      </a:r>
                    </a:p>
                  </a:txBody>
                  <a:tcPr anchor="ctr">
                    <a:solidFill>
                      <a:srgbClr val="FFFFFF"/>
                    </a:solidFill>
                  </a:tcPr>
                </a:tc>
                <a:extLst>
                  <a:ext uri="{0D108BD9-81ED-4DB2-BD59-A6C34878D82A}">
                    <a16:rowId xmlns:a16="http://schemas.microsoft.com/office/drawing/2014/main" val="2634226908"/>
                  </a:ext>
                </a:extLst>
              </a:tr>
            </a:tbl>
          </a:graphicData>
        </a:graphic>
      </p:graphicFrame>
      <p:sp>
        <p:nvSpPr>
          <p:cNvPr id="10" name="Rectangle: Rounded Corners 9">
            <a:extLst>
              <a:ext uri="{FF2B5EF4-FFF2-40B4-BE49-F238E27FC236}">
                <a16:creationId xmlns:a16="http://schemas.microsoft.com/office/drawing/2014/main" id="{7DE47490-617A-46E5-A3DE-AEED1828BECF}"/>
              </a:ext>
            </a:extLst>
          </p:cNvPr>
          <p:cNvSpPr/>
          <p:nvPr/>
        </p:nvSpPr>
        <p:spPr>
          <a:xfrm>
            <a:off x="762000" y="4508500"/>
            <a:ext cx="10668000" cy="1651000"/>
          </a:xfrm>
          <a:prstGeom prst="roundRect">
            <a:avLst/>
          </a:prstGeom>
          <a:solidFill>
            <a:srgbClr val="252C36"/>
          </a:solidFill>
          <a:ln w="15875"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0101DB7B-EA7E-47C3-970C-E17138FDEF65}"/>
              </a:ext>
            </a:extLst>
          </p:cNvPr>
          <p:cNvSpPr txBox="1"/>
          <p:nvPr/>
        </p:nvSpPr>
        <p:spPr>
          <a:xfrm>
            <a:off x="1016000" y="4572000"/>
            <a:ext cx="2540000" cy="355600"/>
          </a:xfrm>
          <a:prstGeom prst="rect">
            <a:avLst/>
          </a:prstGeom>
          <a:noFill/>
        </p:spPr>
        <p:txBody>
          <a:bodyPr vertOverflow="overflow" vert="horz" wrap="square" rtlCol="0" anchor="t">
            <a:spAutoFit/>
          </a:bodyPr>
          <a:lstStyle/>
          <a:p>
            <a:pPr algn="l"/>
            <a:r>
              <a:rPr lang="en-US" sz="1400" b="1">
                <a:solidFill>
                  <a:srgbClr val="4FD093"/>
                </a:solidFill>
                <a:latin typeface="Tw Cen MT"/>
              </a:rPr>
              <a:t>Key Findings</a:t>
            </a:r>
          </a:p>
        </p:txBody>
      </p:sp>
      <p:sp>
        <p:nvSpPr>
          <p:cNvPr id="12" name="TextBox 11">
            <a:extLst>
              <a:ext uri="{FF2B5EF4-FFF2-40B4-BE49-F238E27FC236}">
                <a16:creationId xmlns:a16="http://schemas.microsoft.com/office/drawing/2014/main" id="{DA92270D-D1A0-48A6-BB39-48EA5515BD8C}"/>
              </a:ext>
            </a:extLst>
          </p:cNvPr>
          <p:cNvSpPr txBox="1"/>
          <p:nvPr/>
        </p:nvSpPr>
        <p:spPr>
          <a:xfrm>
            <a:off x="1016000" y="4927600"/>
            <a:ext cx="10160000" cy="1143000"/>
          </a:xfrm>
          <a:prstGeom prst="rect">
            <a:avLst/>
          </a:prstGeom>
          <a:noFill/>
        </p:spPr>
        <p:txBody>
          <a:bodyPr vertOverflow="overflow" vert="horz" wrap="square" rtlCol="0" anchor="t">
            <a:spAutoFit/>
          </a:bodyPr>
          <a:lstStyle/>
          <a:p>
            <a:pPr algn="l"/>
            <a:r>
              <a:rPr lang="en-US" sz="1400">
                <a:solidFill>
                  <a:srgbClr val="FFFFFF"/>
                </a:solidFill>
                <a:latin typeface="Tw Cen MT"/>
              </a:rPr>
              <a:t>✓  Logistic Regression outperforms Naïve Bayes by +3.58% accuracy at 250K records
✓  Naïve Bayes trains faster at smaller datasets (10.05s vs 18.71s at 50K)
✓  Both models converge in training time at 250K records (~31s)</a:t>
            </a:r>
          </a:p>
        </p:txBody>
      </p:sp>
    </p:spTree>
    <p:extLst>
      <p:ext uri="{BB962C8B-B14F-4D97-AF65-F5344CB8AC3E}">
        <p14:creationId xmlns:p14="http://schemas.microsoft.com/office/powerpoint/2010/main" val="2223070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5FCAD-70C5-B298-BB4F-BE4EC8E1CDE4}"/>
              </a:ext>
            </a:extLst>
          </p:cNvPr>
          <p:cNvSpPr>
            <a:spLocks noGrp="1"/>
          </p:cNvSpPr>
          <p:nvPr>
            <p:ph type="title"/>
          </p:nvPr>
        </p:nvSpPr>
        <p:spPr>
          <a:xfrm>
            <a:off x="1143001" y="0"/>
            <a:ext cx="9905998" cy="1478570"/>
          </a:xfrm>
        </p:spPr>
        <p:txBody>
          <a:bodyPr/>
          <a:lstStyle/>
          <a:p>
            <a:pPr algn="ctr"/>
            <a:r>
              <a:rPr lang="en-US" dirty="0"/>
              <a:t>Demonstration</a:t>
            </a:r>
          </a:p>
        </p:txBody>
      </p:sp>
      <p:pic>
        <p:nvPicPr>
          <p:cNvPr id="4" name="Big Data Project Demo">
            <a:hlinkClick r:id="" action="ppaction://media"/>
            <a:extLst>
              <a:ext uri="{FF2B5EF4-FFF2-40B4-BE49-F238E27FC236}">
                <a16:creationId xmlns:a16="http://schemas.microsoft.com/office/drawing/2014/main" id="{4748B97D-9CC7-0AAE-FE88-9BDCF64E0CD4}"/>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794827" y="1478570"/>
            <a:ext cx="8602345" cy="4839090"/>
          </a:xfrm>
        </p:spPr>
      </p:pic>
    </p:spTree>
    <p:extLst>
      <p:ext uri="{BB962C8B-B14F-4D97-AF65-F5344CB8AC3E}">
        <p14:creationId xmlns:p14="http://schemas.microsoft.com/office/powerpoint/2010/main" val="39536616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2" name="Title 1">
            <a:extLst>
              <a:ext uri="{FF2B5EF4-FFF2-40B4-BE49-F238E27FC236}">
                <a16:creationId xmlns:a16="http://schemas.microsoft.com/office/drawing/2014/main" id="{65619577-2593-54DF-207E-A7AB86B346C4}"/>
              </a:ext>
            </a:extLst>
          </p:cNvPr>
          <p:cNvSpPr>
            <a:spLocks noGrp="1"/>
          </p:cNvSpPr>
          <p:nvPr>
            <p:ph type="title"/>
          </p:nvPr>
        </p:nvSpPr>
        <p:spPr>
          <a:xfrm>
            <a:off x="1141413" y="1082673"/>
            <a:ext cx="2869416" cy="4708528"/>
          </a:xfrm>
        </p:spPr>
        <p:txBody>
          <a:bodyPr>
            <a:normAutofit/>
          </a:bodyPr>
          <a:lstStyle/>
          <a:p>
            <a:pPr algn="r"/>
            <a:r>
              <a:rPr lang="en-US" sz="4000"/>
              <a:t>Discussion</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3B90FFF-DC63-FCEF-2FDF-830B3CB7B27D}"/>
              </a:ext>
            </a:extLst>
          </p:cNvPr>
          <p:cNvSpPr>
            <a:spLocks noGrp="1"/>
          </p:cNvSpPr>
          <p:nvPr>
            <p:ph idx="1"/>
          </p:nvPr>
        </p:nvSpPr>
        <p:spPr>
          <a:xfrm>
            <a:off x="5297763" y="1082673"/>
            <a:ext cx="5751237" cy="4708528"/>
          </a:xfrm>
        </p:spPr>
        <p:txBody>
          <a:bodyPr anchor="ctr">
            <a:normAutofit/>
          </a:bodyPr>
          <a:lstStyle/>
          <a:p>
            <a:pPr>
              <a:lnSpc>
                <a:spcPct val="110000"/>
              </a:lnSpc>
            </a:pPr>
            <a:r>
              <a:rPr lang="en-US" sz="1800" b="1" dirty="0"/>
              <a:t>Accuracy increases with scale: </a:t>
            </a:r>
            <a:r>
              <a:rPr lang="en-US" sz="1800" dirty="0"/>
              <a:t>Consistent gains from 91.43% to 92.82% as dataset size increases from 50k to 250k records, validating the big data approach</a:t>
            </a:r>
          </a:p>
          <a:p>
            <a:pPr>
              <a:lnSpc>
                <a:spcPct val="110000"/>
              </a:lnSpc>
            </a:pPr>
            <a:r>
              <a:rPr lang="en-US" sz="1800" b="1" dirty="0"/>
              <a:t>JVM warm-up effect: </a:t>
            </a:r>
            <a:r>
              <a:rPr lang="en-US" sz="1800" dirty="0"/>
              <a:t>the 100k run completed faster than the 50k run (17.00s vs. 18.71s) due to Spark's JVM initialization overhead on first execution</a:t>
            </a:r>
          </a:p>
          <a:p>
            <a:pPr>
              <a:lnSpc>
                <a:spcPct val="110000"/>
              </a:lnSpc>
            </a:pPr>
            <a:r>
              <a:rPr lang="en-US" sz="1800" b="1" dirty="0"/>
              <a:t>Class imbalance: </a:t>
            </a:r>
            <a:r>
              <a:rPr lang="en-US" sz="1800" dirty="0"/>
              <a:t>~87–88% of reviews are positive across all dataset sizes; despite this, the model correctly classified the vast majority of reviews in manual testing</a:t>
            </a:r>
          </a:p>
          <a:p>
            <a:pPr>
              <a:lnSpc>
                <a:spcPct val="110000"/>
              </a:lnSpc>
            </a:pPr>
            <a:r>
              <a:rPr lang="en-US" sz="1800" b="1" dirty="0"/>
              <a:t>Infrastructure ceiling: </a:t>
            </a:r>
            <a:r>
              <a:rPr lang="en-US" sz="1800" dirty="0"/>
              <a:t>the 500,000 record run crashed due to memory exhaustion on the single-node cluster, demonstrating the real-world need for multi-node distributed infrastructure at full scale</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spTree>
    <p:extLst>
      <p:ext uri="{BB962C8B-B14F-4D97-AF65-F5344CB8AC3E}">
        <p14:creationId xmlns:p14="http://schemas.microsoft.com/office/powerpoint/2010/main" val="6810786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blip>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51F9572-54D5-457A-BA34-C395A478A4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0" name="Rectangle 9">
              <a:extLst>
                <a:ext uri="{FF2B5EF4-FFF2-40B4-BE49-F238E27FC236}">
                  <a16:creationId xmlns:a16="http://schemas.microsoft.com/office/drawing/2014/main" id="{C47D2EE3-C191-49DE-B600-02C0905E41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0D562F95-99C1-44F5-A9D2-96096AE576A4}"/>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sp>
        <p:nvSpPr>
          <p:cNvPr id="2" name="Title 1">
            <a:extLst>
              <a:ext uri="{FF2B5EF4-FFF2-40B4-BE49-F238E27FC236}">
                <a16:creationId xmlns:a16="http://schemas.microsoft.com/office/drawing/2014/main" id="{BE43C9DC-E344-372D-2D17-ADA13B6B325F}"/>
              </a:ext>
            </a:extLst>
          </p:cNvPr>
          <p:cNvSpPr>
            <a:spLocks noGrp="1"/>
          </p:cNvSpPr>
          <p:nvPr>
            <p:ph type="title"/>
          </p:nvPr>
        </p:nvSpPr>
        <p:spPr>
          <a:xfrm>
            <a:off x="6448425" y="618518"/>
            <a:ext cx="4598985" cy="1478570"/>
          </a:xfrm>
        </p:spPr>
        <p:txBody>
          <a:bodyPr>
            <a:normAutofit/>
          </a:bodyPr>
          <a:lstStyle/>
          <a:p>
            <a:r>
              <a:rPr lang="en-US" dirty="0"/>
              <a:t>Future Work</a:t>
            </a:r>
          </a:p>
        </p:txBody>
      </p:sp>
      <p:pic>
        <p:nvPicPr>
          <p:cNvPr id="5" name="Picture 4" descr="Robot operating a machine">
            <a:extLst>
              <a:ext uri="{FF2B5EF4-FFF2-40B4-BE49-F238E27FC236}">
                <a16:creationId xmlns:a16="http://schemas.microsoft.com/office/drawing/2014/main" id="{A3E1A0F6-7534-D44D-E294-33FF28D0F66C}"/>
              </a:ext>
            </a:extLst>
          </p:cNvPr>
          <p:cNvPicPr>
            <a:picLocks noChangeAspect="1"/>
          </p:cNvPicPr>
          <p:nvPr/>
        </p:nvPicPr>
        <p:blipFill>
          <a:blip r:embed="rId5"/>
          <a:srcRect l="16818" r="14897" b="1"/>
          <a:stretch>
            <a:fillRect/>
          </a:stretch>
        </p:blipFill>
        <p:spPr>
          <a:xfrm>
            <a:off x="-5597" y="10"/>
            <a:ext cx="6101597" cy="6857990"/>
          </a:xfrm>
          <a:prstGeom prst="rect">
            <a:avLst/>
          </a:prstGeom>
        </p:spPr>
      </p:pic>
      <p:grpSp>
        <p:nvGrpSpPr>
          <p:cNvPr id="13" name="Group 12">
            <a:extLst>
              <a:ext uri="{FF2B5EF4-FFF2-40B4-BE49-F238E27FC236}">
                <a16:creationId xmlns:a16="http://schemas.microsoft.com/office/drawing/2014/main" id="{06A80B50-DCB4-4775-9C8E-7AF0F56803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14" name="Rectangle 13">
              <a:extLst>
                <a:ext uri="{FF2B5EF4-FFF2-40B4-BE49-F238E27FC236}">
                  <a16:creationId xmlns:a16="http://schemas.microsoft.com/office/drawing/2014/main" id="{57B6B07F-8DDD-4497-9D08-B1FED494250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D34962D6-F3CD-4DC5-BF49-D6912045EA1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6D73EE8F-606B-44B2-B0D8-4E760E2396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7" name="Rectangle 16">
              <a:extLst>
                <a:ext uri="{FF2B5EF4-FFF2-40B4-BE49-F238E27FC236}">
                  <a16:creationId xmlns:a16="http://schemas.microsoft.com/office/drawing/2014/main" id="{4BB572A3-4B3D-42D3-8A1E-099D9711F21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18" name="Freeform 9">
              <a:extLst>
                <a:ext uri="{FF2B5EF4-FFF2-40B4-BE49-F238E27FC236}">
                  <a16:creationId xmlns:a16="http://schemas.microsoft.com/office/drawing/2014/main" id="{C23D0852-9666-424F-92B1-06969E0486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F4EB5FCA-E3DF-400A-B2DF-3D4A8DE95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CE8BF121-2A5E-4DF0-BF3D-418EBDB29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C74600D7-3557-47CD-B93A-945D150EC8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A958ADB2-4D3A-46BD-B22A-C4F4BA897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1E9E49CE-2171-48FE-99CC-0680E5E1FD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AE8DBF97-F3A6-4B11-A8B9-7130FEACC3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5" name="Freeform 16">
              <a:extLst>
                <a:ext uri="{FF2B5EF4-FFF2-40B4-BE49-F238E27FC236}">
                  <a16:creationId xmlns:a16="http://schemas.microsoft.com/office/drawing/2014/main" id="{37F19211-D5F9-4D42-BC7C-E300523B7FF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6" name="Freeform 17">
              <a:extLst>
                <a:ext uri="{FF2B5EF4-FFF2-40B4-BE49-F238E27FC236}">
                  <a16:creationId xmlns:a16="http://schemas.microsoft.com/office/drawing/2014/main" id="{D8FA95C9-8B12-43AB-B57F-E217001D37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FFBCF82E-D8A3-4F77-B21F-AD33E804C8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9EAEC88E-CF2C-4FFF-BE1C-3ECDDF8AF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32BB7076-53D2-42EF-89F5-730F18CFE8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0" name="Freeform 21">
              <a:extLst>
                <a:ext uri="{FF2B5EF4-FFF2-40B4-BE49-F238E27FC236}">
                  <a16:creationId xmlns:a16="http://schemas.microsoft.com/office/drawing/2014/main" id="{64B50F9C-4972-4D3C-A93A-DD715BA405C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1" name="Freeform 22">
              <a:extLst>
                <a:ext uri="{FF2B5EF4-FFF2-40B4-BE49-F238E27FC236}">
                  <a16:creationId xmlns:a16="http://schemas.microsoft.com/office/drawing/2014/main" id="{B4E1A12C-F137-4ECB-8F56-2FA283321A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82996E38-1E79-4C38-BB73-850C1F6BDC2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CE927FE3-1BE5-4D05-B8D7-88E07FF640A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27B981F4-D791-404F-A6E1-83FAD7537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C79724CA-F950-4F24-A2DF-A6C66C8FB98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B60F86CD-6B84-4A86-9A84-1253D5C63F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6ADDC23E-DD84-4022-9E68-7E35C80E67D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8FC3E1B2-C741-4242-8D3C-D98A8A213A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43E10B4F-DACB-4777-BDEB-26A94121E9D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0F6D9197-EFD5-4945-BC96-A5EC66848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1" name="Freeform 32">
              <a:extLst>
                <a:ext uri="{FF2B5EF4-FFF2-40B4-BE49-F238E27FC236}">
                  <a16:creationId xmlns:a16="http://schemas.microsoft.com/office/drawing/2014/main" id="{129E04CE-31E3-49FB-857A-6C0074B6C71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2" name="Rectangle 41">
              <a:extLst>
                <a:ext uri="{FF2B5EF4-FFF2-40B4-BE49-F238E27FC236}">
                  <a16:creationId xmlns:a16="http://schemas.microsoft.com/office/drawing/2014/main" id="{6DDF20A0-F5D5-4DF9-8859-9BAB9B07D9D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43" name="Freeform 34">
              <a:extLst>
                <a:ext uri="{FF2B5EF4-FFF2-40B4-BE49-F238E27FC236}">
                  <a16:creationId xmlns:a16="http://schemas.microsoft.com/office/drawing/2014/main" id="{6EAE610D-D6A4-417B-8D1D-9F46CFD16AD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4" name="Freeform 35">
              <a:extLst>
                <a:ext uri="{FF2B5EF4-FFF2-40B4-BE49-F238E27FC236}">
                  <a16:creationId xmlns:a16="http://schemas.microsoft.com/office/drawing/2014/main" id="{98EB1E73-7882-4002-970B-0EE5E9D0C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5" name="Freeform 36">
              <a:extLst>
                <a:ext uri="{FF2B5EF4-FFF2-40B4-BE49-F238E27FC236}">
                  <a16:creationId xmlns:a16="http://schemas.microsoft.com/office/drawing/2014/main" id="{F6789CED-4C51-4E7C-8352-5589F4768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6" name="Freeform 37">
              <a:extLst>
                <a:ext uri="{FF2B5EF4-FFF2-40B4-BE49-F238E27FC236}">
                  <a16:creationId xmlns:a16="http://schemas.microsoft.com/office/drawing/2014/main" id="{5EA3B6F1-F1AB-4125-B10A-A151640AA34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7" name="Freeform 38">
              <a:extLst>
                <a:ext uri="{FF2B5EF4-FFF2-40B4-BE49-F238E27FC236}">
                  <a16:creationId xmlns:a16="http://schemas.microsoft.com/office/drawing/2014/main" id="{10C1DAD7-FA62-4EA9-8B38-632D88F515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8" name="Freeform 39">
              <a:extLst>
                <a:ext uri="{FF2B5EF4-FFF2-40B4-BE49-F238E27FC236}">
                  <a16:creationId xmlns:a16="http://schemas.microsoft.com/office/drawing/2014/main" id="{76C106C8-9A2B-4AAD-BCB6-C969DE071D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49" name="Freeform 40">
              <a:extLst>
                <a:ext uri="{FF2B5EF4-FFF2-40B4-BE49-F238E27FC236}">
                  <a16:creationId xmlns:a16="http://schemas.microsoft.com/office/drawing/2014/main" id="{0C85FDCD-71B0-4746-915A-FD6791AABD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0" name="Freeform 41">
              <a:extLst>
                <a:ext uri="{FF2B5EF4-FFF2-40B4-BE49-F238E27FC236}">
                  <a16:creationId xmlns:a16="http://schemas.microsoft.com/office/drawing/2014/main" id="{AAA649C3-C2F8-4C07-81B6-7CD6A5043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1" name="Freeform 42">
              <a:extLst>
                <a:ext uri="{FF2B5EF4-FFF2-40B4-BE49-F238E27FC236}">
                  <a16:creationId xmlns:a16="http://schemas.microsoft.com/office/drawing/2014/main" id="{204CA23C-3342-4E0B-8785-EDA0FDBECAA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2" name="Freeform 43">
              <a:extLst>
                <a:ext uri="{FF2B5EF4-FFF2-40B4-BE49-F238E27FC236}">
                  <a16:creationId xmlns:a16="http://schemas.microsoft.com/office/drawing/2014/main" id="{2983555D-7FC7-4A4C-93BC-C29EECEE8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3" name="Freeform 44">
              <a:extLst>
                <a:ext uri="{FF2B5EF4-FFF2-40B4-BE49-F238E27FC236}">
                  <a16:creationId xmlns:a16="http://schemas.microsoft.com/office/drawing/2014/main" id="{3B6E164A-5B73-496F-83C1-4E257C561B3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4" name="Rectangle 53">
              <a:extLst>
                <a:ext uri="{FF2B5EF4-FFF2-40B4-BE49-F238E27FC236}">
                  <a16:creationId xmlns:a16="http://schemas.microsoft.com/office/drawing/2014/main" id="{DF9EAAD5-930F-4895-869E-5DA5A5ED309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txBody>
            <a:bodyPr/>
            <a:lstStyle/>
            <a:p>
              <a:endParaRPr lang="en-US"/>
            </a:p>
          </p:txBody>
        </p:sp>
        <p:sp>
          <p:nvSpPr>
            <p:cNvPr id="55" name="Freeform 46">
              <a:extLst>
                <a:ext uri="{FF2B5EF4-FFF2-40B4-BE49-F238E27FC236}">
                  <a16:creationId xmlns:a16="http://schemas.microsoft.com/office/drawing/2014/main" id="{12B05A00-01DB-41D0-98C5-F93FC98C4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6" name="Freeform 47">
              <a:extLst>
                <a:ext uri="{FF2B5EF4-FFF2-40B4-BE49-F238E27FC236}">
                  <a16:creationId xmlns:a16="http://schemas.microsoft.com/office/drawing/2014/main" id="{ACFCCFE5-2B6E-4EE2-8A0D-A18A312594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7" name="Freeform 48">
              <a:extLst>
                <a:ext uri="{FF2B5EF4-FFF2-40B4-BE49-F238E27FC236}">
                  <a16:creationId xmlns:a16="http://schemas.microsoft.com/office/drawing/2014/main" id="{70562808-51A5-4773-93CC-8B4A4A362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8" name="Freeform 49">
              <a:extLst>
                <a:ext uri="{FF2B5EF4-FFF2-40B4-BE49-F238E27FC236}">
                  <a16:creationId xmlns:a16="http://schemas.microsoft.com/office/drawing/2014/main" id="{EC56ED5F-316D-4A66-8F8F-72E26F50B9D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59" name="Freeform 50">
              <a:extLst>
                <a:ext uri="{FF2B5EF4-FFF2-40B4-BE49-F238E27FC236}">
                  <a16:creationId xmlns:a16="http://schemas.microsoft.com/office/drawing/2014/main" id="{8C5B852E-E495-4C75-82DA-DD9426B2FC9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0" name="Freeform 51">
              <a:extLst>
                <a:ext uri="{FF2B5EF4-FFF2-40B4-BE49-F238E27FC236}">
                  <a16:creationId xmlns:a16="http://schemas.microsoft.com/office/drawing/2014/main" id="{873B9CD9-5CB4-4A2A-87B8-503800220E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1" name="Freeform 52">
              <a:extLst>
                <a:ext uri="{FF2B5EF4-FFF2-40B4-BE49-F238E27FC236}">
                  <a16:creationId xmlns:a16="http://schemas.microsoft.com/office/drawing/2014/main" id="{693D1E94-8556-4B08-AFE0-A60455465A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2" name="Freeform 53">
              <a:extLst>
                <a:ext uri="{FF2B5EF4-FFF2-40B4-BE49-F238E27FC236}">
                  <a16:creationId xmlns:a16="http://schemas.microsoft.com/office/drawing/2014/main" id="{32312E8C-B6A4-4488-A1B8-6A7DECAFD8F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3" name="Freeform 54">
              <a:extLst>
                <a:ext uri="{FF2B5EF4-FFF2-40B4-BE49-F238E27FC236}">
                  <a16:creationId xmlns:a16="http://schemas.microsoft.com/office/drawing/2014/main" id="{CB36CE95-F25E-4549-9FD6-1B068418D3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4" name="Freeform 55">
              <a:extLst>
                <a:ext uri="{FF2B5EF4-FFF2-40B4-BE49-F238E27FC236}">
                  <a16:creationId xmlns:a16="http://schemas.microsoft.com/office/drawing/2014/main" id="{C452D834-CC93-48F0-9C24-A864E0A53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5" name="Freeform 56">
              <a:extLst>
                <a:ext uri="{FF2B5EF4-FFF2-40B4-BE49-F238E27FC236}">
                  <a16:creationId xmlns:a16="http://schemas.microsoft.com/office/drawing/2014/main" id="{2F8089AF-DC55-4EB6-90DD-468D2F1D012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6" name="Freeform 57">
              <a:extLst>
                <a:ext uri="{FF2B5EF4-FFF2-40B4-BE49-F238E27FC236}">
                  <a16:creationId xmlns:a16="http://schemas.microsoft.com/office/drawing/2014/main" id="{00DD0A37-AD9B-4A38-B2A5-C41D2780D2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sp>
          <p:nvSpPr>
            <p:cNvPr id="67" name="Freeform 58">
              <a:extLst>
                <a:ext uri="{FF2B5EF4-FFF2-40B4-BE49-F238E27FC236}">
                  <a16:creationId xmlns:a16="http://schemas.microsoft.com/office/drawing/2014/main" id="{C24501AA-7C2F-4076-AE7A-3BE44671547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txBody>
            <a:bodyPr/>
            <a:lstStyle/>
            <a:p>
              <a:endParaRPr lang="en-US"/>
            </a:p>
          </p:txBody>
        </p:sp>
      </p:grpSp>
      <p:sp>
        <p:nvSpPr>
          <p:cNvPr id="3" name="Content Placeholder 2">
            <a:extLst>
              <a:ext uri="{FF2B5EF4-FFF2-40B4-BE49-F238E27FC236}">
                <a16:creationId xmlns:a16="http://schemas.microsoft.com/office/drawing/2014/main" id="{38075CEA-79A1-E46D-2BD6-D7CE52F3C4D7}"/>
              </a:ext>
            </a:extLst>
          </p:cNvPr>
          <p:cNvSpPr>
            <a:spLocks noGrp="1"/>
          </p:cNvSpPr>
          <p:nvPr>
            <p:ph idx="1"/>
          </p:nvPr>
        </p:nvSpPr>
        <p:spPr>
          <a:xfrm>
            <a:off x="6448425" y="2249487"/>
            <a:ext cx="4598986" cy="3541714"/>
          </a:xfrm>
        </p:spPr>
        <p:txBody>
          <a:bodyPr>
            <a:normAutofit fontScale="92500" lnSpcReduction="20000"/>
          </a:bodyPr>
          <a:lstStyle/>
          <a:p>
            <a:pPr>
              <a:lnSpc>
                <a:spcPct val="110000"/>
              </a:lnSpc>
            </a:pPr>
            <a:r>
              <a:rPr lang="en-US" sz="1800" dirty="0"/>
              <a:t>Scale to a multi-node GCP </a:t>
            </a:r>
            <a:r>
              <a:rPr lang="en-US" sz="1800" dirty="0" err="1"/>
              <a:t>Dataproc</a:t>
            </a:r>
            <a:r>
              <a:rPr lang="en-US" sz="1800" dirty="0"/>
              <a:t> cluster to process the full 14.3 million review dataset</a:t>
            </a:r>
          </a:p>
          <a:p>
            <a:pPr>
              <a:lnSpc>
                <a:spcPct val="110000"/>
              </a:lnSpc>
            </a:pPr>
            <a:r>
              <a:rPr lang="en-US" sz="1800" dirty="0"/>
              <a:t>Incorporate per-class precision and recall metrics to better account for class imbalance</a:t>
            </a:r>
          </a:p>
          <a:p>
            <a:pPr>
              <a:lnSpc>
                <a:spcPct val="110000"/>
              </a:lnSpc>
            </a:pPr>
            <a:r>
              <a:rPr lang="en-US" sz="1800" dirty="0"/>
              <a:t>Explore word embeddings (Word2Vec, </a:t>
            </a:r>
            <a:r>
              <a:rPr lang="en-US" sz="1800" dirty="0" err="1"/>
              <a:t>GloVe</a:t>
            </a:r>
            <a:r>
              <a:rPr lang="en-US" sz="1800" dirty="0"/>
              <a:t>) as an alternative to TF-IDF for richer semantic representation</a:t>
            </a:r>
          </a:p>
          <a:p>
            <a:pPr>
              <a:lnSpc>
                <a:spcPct val="110000"/>
              </a:lnSpc>
            </a:pPr>
            <a:r>
              <a:rPr lang="en-US" sz="1800" dirty="0"/>
              <a:t>Expand analysis to additional Amazon product categories to test generalizability</a:t>
            </a:r>
          </a:p>
          <a:p>
            <a:pPr>
              <a:lnSpc>
                <a:spcPct val="110000"/>
              </a:lnSpc>
            </a:pPr>
            <a:r>
              <a:rPr lang="en-US" sz="1800" dirty="0"/>
              <a:t>Investigate 32GB RAM single-node configuration as an intermediate scaling step before full multi-node deployment</a:t>
            </a:r>
          </a:p>
        </p:txBody>
      </p:sp>
    </p:spTree>
    <p:extLst>
      <p:ext uri="{BB962C8B-B14F-4D97-AF65-F5344CB8AC3E}">
        <p14:creationId xmlns:p14="http://schemas.microsoft.com/office/powerpoint/2010/main" val="7698709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C892AB0-7D6D-4FC9-9105-0CB427161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07353E4-FA19-40CB-8AF8-3A8E6704B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2533" y="0"/>
            <a:ext cx="598488" cy="1981201"/>
            <a:chOff x="194733" y="0"/>
            <a:chExt cx="598488" cy="1981201"/>
          </a:xfrm>
        </p:grpSpPr>
        <p:sp>
          <p:nvSpPr>
            <p:cNvPr id="11" name="Freeform 35">
              <a:extLst>
                <a:ext uri="{FF2B5EF4-FFF2-40B4-BE49-F238E27FC236}">
                  <a16:creationId xmlns:a16="http://schemas.microsoft.com/office/drawing/2014/main" id="{697D009D-8E70-460A-BE57-321BB0764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85221" y="0"/>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12" name="Freeform 36">
              <a:extLst>
                <a:ext uri="{FF2B5EF4-FFF2-40B4-BE49-F238E27FC236}">
                  <a16:creationId xmlns:a16="http://schemas.microsoft.com/office/drawing/2014/main" id="{D0001F35-F282-403E-8D08-0D204D851F7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526521" y="1141413"/>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13" name="Freeform 38">
              <a:extLst>
                <a:ext uri="{FF2B5EF4-FFF2-40B4-BE49-F238E27FC236}">
                  <a16:creationId xmlns:a16="http://schemas.microsoft.com/office/drawing/2014/main" id="{3F8A69A2-2D15-40CD-8C14-A18643ABA57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9996" y="1792288"/>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4" name="Freeform 39">
              <a:extLst>
                <a:ext uri="{FF2B5EF4-FFF2-40B4-BE49-F238E27FC236}">
                  <a16:creationId xmlns:a16="http://schemas.microsoft.com/office/drawing/2014/main" id="{B665CA2A-9D55-4786-9343-EB4667262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194733" y="0"/>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15" name="Freeform 40">
              <a:extLst>
                <a:ext uri="{FF2B5EF4-FFF2-40B4-BE49-F238E27FC236}">
                  <a16:creationId xmlns:a16="http://schemas.microsoft.com/office/drawing/2014/main" id="{CEE9BD85-96DF-4CDF-BC0F-C4E46062B3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602721" y="24288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16" name="Rectangle 41">
              <a:extLst>
                <a:ext uri="{FF2B5EF4-FFF2-40B4-BE49-F238E27FC236}">
                  <a16:creationId xmlns:a16="http://schemas.microsoft.com/office/drawing/2014/main" id="{6BB6F5E5-6CA3-4B20-86A7-1174D6E71FB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flipV="1">
              <a:off x="693208" y="0"/>
              <a:ext cx="23813" cy="252413"/>
            </a:xfrm>
            <a:prstGeom prst="rect">
              <a:avLst/>
            </a:prstGeom>
            <a:solidFill>
              <a:schemeClr val="tx2">
                <a:alpha val="80000"/>
              </a:schemeClr>
            </a:solidFill>
            <a:ln>
              <a:noFill/>
            </a:ln>
          </p:spPr>
          <p:txBody>
            <a:bodyPr/>
            <a:lstStyle/>
            <a:p>
              <a:endParaRPr lang="en-US"/>
            </a:p>
          </p:txBody>
        </p:sp>
      </p:grpSp>
      <p:grpSp>
        <p:nvGrpSpPr>
          <p:cNvPr id="18" name="Group 17">
            <a:extLst>
              <a:ext uri="{FF2B5EF4-FFF2-40B4-BE49-F238E27FC236}">
                <a16:creationId xmlns:a16="http://schemas.microsoft.com/office/drawing/2014/main" id="{0328E69E-CE3D-4110-8BF7-AD3C0C10CB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5512" y="0"/>
            <a:ext cx="650875" cy="1730375"/>
            <a:chOff x="11347978" y="0"/>
            <a:chExt cx="650875" cy="1730375"/>
          </a:xfrm>
        </p:grpSpPr>
        <p:sp>
          <p:nvSpPr>
            <p:cNvPr id="19" name="Freeform 32">
              <a:extLst>
                <a:ext uri="{FF2B5EF4-FFF2-40B4-BE49-F238E27FC236}">
                  <a16:creationId xmlns:a16="http://schemas.microsoft.com/office/drawing/2014/main" id="{30F84C80-9E12-4460-B88F-D03839F0C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67041"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0" name="Freeform 33">
              <a:extLst>
                <a:ext uri="{FF2B5EF4-FFF2-40B4-BE49-F238E27FC236}">
                  <a16:creationId xmlns:a16="http://schemas.microsoft.com/office/drawing/2014/main" id="{2F84C18C-5783-48FF-9DE0-FDA327CFC4F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47978"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1" name="Freeform 34">
              <a:extLst>
                <a:ext uri="{FF2B5EF4-FFF2-40B4-BE49-F238E27FC236}">
                  <a16:creationId xmlns:a16="http://schemas.microsoft.com/office/drawing/2014/main" id="{08C6A855-346C-4589-9AD4-5E15BCBC7A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4678"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2" name="Freeform 37">
              <a:extLst>
                <a:ext uri="{FF2B5EF4-FFF2-40B4-BE49-F238E27FC236}">
                  <a16:creationId xmlns:a16="http://schemas.microsoft.com/office/drawing/2014/main" id="{7E64BEE6-1157-421C-A02A-47639E4D9F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694053"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F64806C9-3599-45A7-BCFF-F762C54276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40267" y="5118101"/>
            <a:ext cx="650875" cy="1730375"/>
            <a:chOff x="118533" y="5118101"/>
            <a:chExt cx="650875" cy="1730375"/>
          </a:xfrm>
        </p:grpSpPr>
        <p:sp>
          <p:nvSpPr>
            <p:cNvPr id="25" name="Freeform 32">
              <a:extLst>
                <a:ext uri="{FF2B5EF4-FFF2-40B4-BE49-F238E27FC236}">
                  <a16:creationId xmlns:a16="http://schemas.microsoft.com/office/drawing/2014/main" id="{41D6E755-9558-4CAA-8F56-469D231C35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237596" y="6335713"/>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80000"/>
              </a:schemeClr>
            </a:solidFill>
            <a:ln>
              <a:noFill/>
            </a:ln>
          </p:spPr>
          <p:txBody>
            <a:bodyPr/>
            <a:lstStyle/>
            <a:p>
              <a:endParaRPr lang="en-US"/>
            </a:p>
          </p:txBody>
        </p:sp>
        <p:sp>
          <p:nvSpPr>
            <p:cNvPr id="26" name="Freeform 33">
              <a:extLst>
                <a:ext uri="{FF2B5EF4-FFF2-40B4-BE49-F238E27FC236}">
                  <a16:creationId xmlns:a16="http://schemas.microsoft.com/office/drawing/2014/main" id="{8FCD41C4-606C-446C-8C81-6353C64424A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118533" y="622141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80000"/>
              </a:schemeClr>
            </a:solidFill>
            <a:ln>
              <a:noFill/>
            </a:ln>
          </p:spPr>
          <p:txBody>
            <a:bodyPr/>
            <a:lstStyle/>
            <a:p>
              <a:endParaRPr lang="en-US"/>
            </a:p>
          </p:txBody>
        </p:sp>
        <p:sp>
          <p:nvSpPr>
            <p:cNvPr id="27" name="Freeform 34">
              <a:extLst>
                <a:ext uri="{FF2B5EF4-FFF2-40B4-BE49-F238E27FC236}">
                  <a16:creationId xmlns:a16="http://schemas.microsoft.com/office/drawing/2014/main" id="{274CFBE4-CEA6-4C81-BB1E-83E1896771D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flipV="1">
              <a:off x="385233" y="5118101"/>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28" name="Freeform 37">
              <a:extLst>
                <a:ext uri="{FF2B5EF4-FFF2-40B4-BE49-F238E27FC236}">
                  <a16:creationId xmlns:a16="http://schemas.microsoft.com/office/drawing/2014/main" id="{24813D3D-7B30-42F2-9065-1B40F140C7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V="1">
              <a:off x="464608" y="5299075"/>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80000"/>
              </a:schemeClr>
            </a:solidFill>
            <a:ln>
              <a:noFill/>
            </a:ln>
          </p:spPr>
          <p:txBody>
            <a:bodyPr/>
            <a:lstStyle/>
            <a:p>
              <a:endParaRPr lang="en-US"/>
            </a:p>
          </p:txBody>
        </p:sp>
      </p:grpSp>
      <p:grpSp>
        <p:nvGrpSpPr>
          <p:cNvPr id="30" name="Group 29">
            <a:extLst>
              <a:ext uri="{FF2B5EF4-FFF2-40B4-BE49-F238E27FC236}">
                <a16:creationId xmlns:a16="http://schemas.microsoft.com/office/drawing/2014/main" id="{1287AC97-A8E8-4B45-A50A-3057A88B40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1229445" y="4867275"/>
            <a:ext cx="598488" cy="1981201"/>
            <a:chOff x="11424178" y="4867275"/>
            <a:chExt cx="598488" cy="1981201"/>
          </a:xfrm>
        </p:grpSpPr>
        <p:sp>
          <p:nvSpPr>
            <p:cNvPr id="31" name="Freeform 35">
              <a:extLst>
                <a:ext uri="{FF2B5EF4-FFF2-40B4-BE49-F238E27FC236}">
                  <a16:creationId xmlns:a16="http://schemas.microsoft.com/office/drawing/2014/main" id="{57D70AA8-D36C-4DF9-B7D7-4E2C9BEFD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14666"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80000"/>
              </a:schemeClr>
            </a:solidFill>
            <a:ln>
              <a:noFill/>
            </a:ln>
          </p:spPr>
          <p:txBody>
            <a:bodyPr/>
            <a:lstStyle/>
            <a:p>
              <a:endParaRPr lang="en-US"/>
            </a:p>
          </p:txBody>
        </p:sp>
        <p:sp>
          <p:nvSpPr>
            <p:cNvPr id="32" name="Freeform 36">
              <a:extLst>
                <a:ext uri="{FF2B5EF4-FFF2-40B4-BE49-F238E27FC236}">
                  <a16:creationId xmlns:a16="http://schemas.microsoft.com/office/drawing/2014/main" id="{74D88556-8C5B-41AF-9FA0-92D2734708D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55966"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80000"/>
              </a:schemeClr>
            </a:solidFill>
            <a:ln>
              <a:noFill/>
            </a:ln>
          </p:spPr>
          <p:txBody>
            <a:bodyPr/>
            <a:lstStyle/>
            <a:p>
              <a:endParaRPr lang="en-US"/>
            </a:p>
          </p:txBody>
        </p:sp>
        <p:sp>
          <p:nvSpPr>
            <p:cNvPr id="33" name="Freeform 38">
              <a:extLst>
                <a:ext uri="{FF2B5EF4-FFF2-40B4-BE49-F238E27FC236}">
                  <a16:creationId xmlns:a16="http://schemas.microsoft.com/office/drawing/2014/main" id="{17E00558-8912-48C6-8202-D8A2D854B7D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19441"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4" name="Freeform 39">
              <a:extLst>
                <a:ext uri="{FF2B5EF4-FFF2-40B4-BE49-F238E27FC236}">
                  <a16:creationId xmlns:a16="http://schemas.microsoft.com/office/drawing/2014/main" id="{7E4C092A-90EF-4870-97FC-C2D97FD2CE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24178"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80000"/>
              </a:schemeClr>
            </a:solidFill>
            <a:ln>
              <a:noFill/>
            </a:ln>
          </p:spPr>
          <p:txBody>
            <a:bodyPr/>
            <a:lstStyle/>
            <a:p>
              <a:endParaRPr lang="en-US"/>
            </a:p>
          </p:txBody>
        </p:sp>
        <p:sp>
          <p:nvSpPr>
            <p:cNvPr id="35" name="Freeform 40">
              <a:extLst>
                <a:ext uri="{FF2B5EF4-FFF2-40B4-BE49-F238E27FC236}">
                  <a16:creationId xmlns:a16="http://schemas.microsoft.com/office/drawing/2014/main" id="{0C8C091A-4902-4B98-BB6B-AF6FA1174BB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32166"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80000"/>
              </a:schemeClr>
            </a:solidFill>
            <a:ln>
              <a:noFill/>
            </a:ln>
          </p:spPr>
          <p:txBody>
            <a:bodyPr/>
            <a:lstStyle/>
            <a:p>
              <a:endParaRPr lang="en-US"/>
            </a:p>
          </p:txBody>
        </p:sp>
        <p:sp>
          <p:nvSpPr>
            <p:cNvPr id="36" name="Rectangle 41">
              <a:extLst>
                <a:ext uri="{FF2B5EF4-FFF2-40B4-BE49-F238E27FC236}">
                  <a16:creationId xmlns:a16="http://schemas.microsoft.com/office/drawing/2014/main" id="{50C57AA3-5B6E-4C49-9AE3-D130A25404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22653" y="6596063"/>
              <a:ext cx="23813" cy="252413"/>
            </a:xfrm>
            <a:prstGeom prst="rect">
              <a:avLst/>
            </a:prstGeom>
            <a:solidFill>
              <a:schemeClr val="tx2">
                <a:alpha val="80000"/>
              </a:schemeClr>
            </a:solidFill>
            <a:ln>
              <a:noFill/>
            </a:ln>
          </p:spPr>
          <p:txBody>
            <a:bodyPr/>
            <a:lstStyle/>
            <a:p>
              <a:endParaRPr lang="en-US"/>
            </a:p>
          </p:txBody>
        </p:sp>
      </p:grpSp>
      <p:sp>
        <p:nvSpPr>
          <p:cNvPr id="38" name="Rectangle 37">
            <a:extLst>
              <a:ext uri="{FF2B5EF4-FFF2-40B4-BE49-F238E27FC236}">
                <a16:creationId xmlns:a16="http://schemas.microsoft.com/office/drawing/2014/main" id="{6D29BE04-4454-4832-B83F-10D001BFF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ound Diagonal Corner Rectangle 7">
            <a:extLst>
              <a:ext uri="{FF2B5EF4-FFF2-40B4-BE49-F238E27FC236}">
                <a16:creationId xmlns:a16="http://schemas.microsoft.com/office/drawing/2014/main" id="{98714CE9-3C2C-48E1-8B8F-CFB7735C4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2867" y="766234"/>
            <a:ext cx="10346266" cy="5325532"/>
          </a:xfrm>
          <a:prstGeom prst="round2DiagRect">
            <a:avLst>
              <a:gd name="adj1" fmla="val 4147"/>
              <a:gd name="adj2" fmla="val 0"/>
            </a:avLst>
          </a:prstGeom>
          <a:solidFill>
            <a:schemeClr val="bg2">
              <a:lumMod val="50000"/>
              <a:alpha val="80000"/>
            </a:schemeClr>
          </a:solidFill>
          <a:ln w="19050" cap="sq">
            <a:solidFill>
              <a:srgbClr val="FFFFFF">
                <a:alpha val="60000"/>
              </a:srgb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F4CC0F-5BC2-2D95-34DA-7BC848A55F32}"/>
              </a:ext>
            </a:extLst>
          </p:cNvPr>
          <p:cNvSpPr>
            <a:spLocks noGrp="1"/>
          </p:cNvSpPr>
          <p:nvPr>
            <p:ph type="title"/>
          </p:nvPr>
        </p:nvSpPr>
        <p:spPr>
          <a:xfrm>
            <a:off x="1577445" y="1168078"/>
            <a:ext cx="9048219" cy="1092200"/>
          </a:xfrm>
        </p:spPr>
        <p:txBody>
          <a:bodyPr anchor="ctr">
            <a:normAutofit/>
          </a:bodyPr>
          <a:lstStyle/>
          <a:p>
            <a:pPr algn="ctr"/>
            <a:r>
              <a:rPr lang="en-US">
                <a:solidFill>
                  <a:srgbClr val="FFFFFF"/>
                </a:solidFill>
              </a:rPr>
              <a:t>Questions?</a:t>
            </a:r>
          </a:p>
        </p:txBody>
      </p:sp>
      <p:sp>
        <p:nvSpPr>
          <p:cNvPr id="3" name="Content Placeholder 2">
            <a:extLst>
              <a:ext uri="{FF2B5EF4-FFF2-40B4-BE49-F238E27FC236}">
                <a16:creationId xmlns:a16="http://schemas.microsoft.com/office/drawing/2014/main" id="{4E1A213E-C056-EF5D-025E-2F40761A900B}"/>
              </a:ext>
            </a:extLst>
          </p:cNvPr>
          <p:cNvSpPr>
            <a:spLocks noGrp="1"/>
          </p:cNvSpPr>
          <p:nvPr>
            <p:ph idx="1"/>
          </p:nvPr>
        </p:nvSpPr>
        <p:spPr>
          <a:xfrm>
            <a:off x="1577446" y="2413001"/>
            <a:ext cx="9048218" cy="3033180"/>
          </a:xfrm>
        </p:spPr>
        <p:txBody>
          <a:bodyPr anchor="ctr">
            <a:normAutofit/>
          </a:bodyPr>
          <a:lstStyle/>
          <a:p>
            <a:endParaRPr lang="en-US" sz="2000">
              <a:solidFill>
                <a:srgbClr val="FFFFFF"/>
              </a:solidFill>
            </a:endParaRPr>
          </a:p>
        </p:txBody>
      </p:sp>
    </p:spTree>
    <p:extLst>
      <p:ext uri="{BB962C8B-B14F-4D97-AF65-F5344CB8AC3E}">
        <p14:creationId xmlns:p14="http://schemas.microsoft.com/office/powerpoint/2010/main" val="31450492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3374728-9135-4977-842F-9BDF001D38AC}">
  <we:reference id="wa200010001" version="1.0.0.1" store="en-US" storeType="OMEX"/>
  <we:alternateReferences>
    <we:reference id="WA200010001" version="1.0.0.1" store="" storeType="OMEX"/>
  </we:alternateReferences>
  <we:properties>
    <we:property name="claude.fileId" value="&quot;b144c731-f915-4e19-8456-491043ba7a6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TM04033919[[fn=Circuit]]</Template>
  <TotalTime>70</TotalTime>
  <Words>2694</Words>
  <Application>Microsoft Office PowerPoint</Application>
  <PresentationFormat>Widescreen</PresentationFormat>
  <Paragraphs>154</Paragraphs>
  <Slides>12</Slides>
  <Notes>12</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Tw Cen MT</vt:lpstr>
      <vt:lpstr>Circuit</vt:lpstr>
      <vt:lpstr>Sentiment Analysis of Amazon Reviews </vt:lpstr>
      <vt:lpstr>Motivation &amp; Problem </vt:lpstr>
      <vt:lpstr>Background &amp; Literature</vt:lpstr>
      <vt:lpstr>Project Setup</vt:lpstr>
      <vt:lpstr>System Architecture</vt:lpstr>
      <vt:lpstr>Distributed ML Pipeline </vt:lpstr>
      <vt:lpstr>Class distribution &amp; training/validation</vt:lpstr>
      <vt:lpstr>Logistic Regression vs. Naïve Bayes</vt:lpstr>
      <vt:lpstr>Demonstration</vt:lpstr>
      <vt:lpstr>Discussion</vt:lpstr>
      <vt:lpstr>Future Work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Jaydon Debus</dc:creator>
  <cp:lastModifiedBy>Jaydon Debus</cp:lastModifiedBy>
  <cp:revision>1</cp:revision>
  <dcterms:created xsi:type="dcterms:W3CDTF">2026-04-21T01:00:14Z</dcterms:created>
  <dcterms:modified xsi:type="dcterms:W3CDTF">2026-04-23T14:58:10Z</dcterms:modified>
</cp:coreProperties>
</file>